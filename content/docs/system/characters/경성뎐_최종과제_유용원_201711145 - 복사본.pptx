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2"/>
  </p:notesMasterIdLst>
  <p:sldIdLst>
    <p:sldId id="282" r:id="rId2"/>
    <p:sldId id="280" r:id="rId3"/>
    <p:sldId id="285" r:id="rId4"/>
    <p:sldId id="284" r:id="rId5"/>
    <p:sldId id="283" r:id="rId6"/>
    <p:sldId id="281" r:id="rId7"/>
    <p:sldId id="289" r:id="rId8"/>
    <p:sldId id="286" r:id="rId9"/>
    <p:sldId id="287" r:id="rId10"/>
    <p:sldId id="288" r:id="rId11"/>
    <p:sldId id="321" r:id="rId12"/>
    <p:sldId id="301" r:id="rId13"/>
    <p:sldId id="303" r:id="rId14"/>
    <p:sldId id="317" r:id="rId15"/>
    <p:sldId id="306" r:id="rId16"/>
    <p:sldId id="307" r:id="rId17"/>
    <p:sldId id="322" r:id="rId18"/>
    <p:sldId id="323" r:id="rId19"/>
    <p:sldId id="304" r:id="rId20"/>
    <p:sldId id="305" r:id="rId21"/>
    <p:sldId id="320" r:id="rId22"/>
    <p:sldId id="310" r:id="rId23"/>
    <p:sldId id="311" r:id="rId24"/>
    <p:sldId id="318" r:id="rId25"/>
    <p:sldId id="308" r:id="rId26"/>
    <p:sldId id="309" r:id="rId27"/>
    <p:sldId id="319" r:id="rId28"/>
    <p:sldId id="312" r:id="rId29"/>
    <p:sldId id="314" r:id="rId30"/>
    <p:sldId id="324" r:id="rId31"/>
  </p:sldIdLst>
  <p:sldSz cx="12192000" cy="6858000"/>
  <p:notesSz cx="6858000" cy="9144000"/>
  <p:embeddedFontLst>
    <p:embeddedFont>
      <p:font typeface="나눔스퀘어라운드 Regular" panose="020B0600000101010101" charset="-127"/>
      <p:regular r:id="rId33"/>
    </p:embeddedFont>
    <p:embeddedFont>
      <p:font typeface="Chiller" panose="04020404031007020602" pitchFamily="82" charset="0"/>
      <p:regular r:id="rId3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3"/>
    <a:srgbClr val="FBE5D6"/>
    <a:srgbClr val="D2DEEF"/>
    <a:srgbClr val="DEEBF7"/>
    <a:srgbClr val="F2F2F2"/>
    <a:srgbClr val="262626"/>
    <a:srgbClr val="D9D9D9"/>
    <a:srgbClr val="C9C9C9"/>
    <a:srgbClr val="44546A"/>
    <a:srgbClr val="3230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5" autoAdjust="0"/>
    <p:restoredTop sz="89529" autoAdjust="0"/>
  </p:normalViewPr>
  <p:slideViewPr>
    <p:cSldViewPr snapToGrid="0">
      <p:cViewPr varScale="1">
        <p:scale>
          <a:sx n="99" d="100"/>
          <a:sy n="99" d="100"/>
        </p:scale>
        <p:origin x="1032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고딕16" panose="02020600000000000000" pitchFamily="18" charset="-127"/>
                <a:ea typeface="a고딕16" panose="02020600000000000000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고딕16" panose="02020600000000000000" pitchFamily="18" charset="-127"/>
                <a:ea typeface="a고딕16" panose="02020600000000000000" pitchFamily="18" charset="-127"/>
              </a:defRPr>
            </a:lvl1pPr>
          </a:lstStyle>
          <a:p>
            <a:fld id="{5468BF12-5CB1-48ED-8305-A1E461A8A3CA}" type="datetimeFigureOut">
              <a:rPr lang="ko-KR" altLang="en-US" smtClean="0"/>
              <a:pPr/>
              <a:t>2026-04-02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고딕16" panose="02020600000000000000" pitchFamily="18" charset="-127"/>
                <a:ea typeface="a고딕16" panose="02020600000000000000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고딕16" panose="02020600000000000000" pitchFamily="18" charset="-127"/>
                <a:ea typeface="a고딕16" panose="02020600000000000000" pitchFamily="18" charset="-127"/>
              </a:defRPr>
            </a:lvl1pPr>
          </a:lstStyle>
          <a:p>
            <a:fld id="{AC5B9147-8FA1-472D-B7E1-F8FF477F92B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9054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a고딕16" panose="02020600000000000000" pitchFamily="18" charset="-127"/>
        <a:ea typeface="a고딕16" panose="02020600000000000000" pitchFamily="18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a고딕16" panose="02020600000000000000" pitchFamily="18" charset="-127"/>
        <a:ea typeface="a고딕16" panose="02020600000000000000" pitchFamily="18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a고딕16" panose="02020600000000000000" pitchFamily="18" charset="-127"/>
        <a:ea typeface="a고딕16" panose="02020600000000000000" pitchFamily="18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a고딕16" panose="02020600000000000000" pitchFamily="18" charset="-127"/>
        <a:ea typeface="a고딕16" panose="02020600000000000000" pitchFamily="18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a고딕16" panose="02020600000000000000" pitchFamily="18" charset="-127"/>
        <a:ea typeface="a고딕16" panose="02020600000000000000" pitchFamily="18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B9147-8FA1-472D-B7E1-F8FF477F92B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6519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B9147-8FA1-472D-B7E1-F8FF477F92B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13471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B9147-8FA1-472D-B7E1-F8FF477F92B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83467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B9147-8FA1-472D-B7E1-F8FF477F92B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9807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B9147-8FA1-472D-B7E1-F8FF477F92B9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78861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B9147-8FA1-472D-B7E1-F8FF477F92B9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5196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B9147-8FA1-472D-B7E1-F8FF477F92B9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6990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B9147-8FA1-472D-B7E1-F8FF477F92B9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81014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B9147-8FA1-472D-B7E1-F8FF477F92B9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04654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B9147-8FA1-472D-B7E1-F8FF477F92B9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99636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5B9147-8FA1-472D-B7E1-F8FF477F92B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22986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B9147-8FA1-472D-B7E1-F8FF477F92B9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0013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B9147-8FA1-472D-B7E1-F8FF477F92B9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89229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B9147-8FA1-472D-B7E1-F8FF477F92B9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35895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B9147-8FA1-472D-B7E1-F8FF477F92B9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1623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B9147-8FA1-472D-B7E1-F8FF477F92B9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26452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5B9147-8FA1-472D-B7E1-F8FF477F92B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59680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5B9147-8FA1-472D-B7E1-F8FF477F92B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53447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B9147-8FA1-472D-B7E1-F8FF477F92B9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78422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B9147-8FA1-472D-B7E1-F8FF477F92B9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81664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5B9147-8FA1-472D-B7E1-F8FF477F92B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98814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B9147-8FA1-472D-B7E1-F8FF477F92B9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87481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B9147-8FA1-472D-B7E1-F8FF477F92B9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76881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B9147-8FA1-472D-B7E1-F8FF477F92B9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41402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B9147-8FA1-472D-B7E1-F8FF477F92B9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07376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B9147-8FA1-472D-B7E1-F8FF477F92B9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68185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5B9147-8FA1-472D-B7E1-F8FF477F92B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75470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B9147-8FA1-472D-B7E1-F8FF477F92B9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70754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B9147-8FA1-472D-B7E1-F8FF477F92B9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34051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5B9147-8FA1-472D-B7E1-F8FF477F92B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0358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CBDA3-3181-4AF4-B5A5-27A538CF2D69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DB727-4E3A-4D8E-8644-C7E4299F88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6689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CBDA3-3181-4AF4-B5A5-27A538CF2D69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DB727-4E3A-4D8E-8644-C7E4299F88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4620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CBDA3-3181-4AF4-B5A5-27A538CF2D69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DB727-4E3A-4D8E-8644-C7E4299F88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5029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CBDA3-3181-4AF4-B5A5-27A538CF2D69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DB727-4E3A-4D8E-8644-C7E4299F88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0861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CBDA3-3181-4AF4-B5A5-27A538CF2D69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DB727-4E3A-4D8E-8644-C7E4299F88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6013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CBDA3-3181-4AF4-B5A5-27A538CF2D69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DB727-4E3A-4D8E-8644-C7E4299F88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933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CBDA3-3181-4AF4-B5A5-27A538CF2D69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DB727-4E3A-4D8E-8644-C7E4299F88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7444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CBDA3-3181-4AF4-B5A5-27A538CF2D69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DB727-4E3A-4D8E-8644-C7E4299F88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4461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CBDA3-3181-4AF4-B5A5-27A538CF2D69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DB727-4E3A-4D8E-8644-C7E4299F88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9430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CBDA3-3181-4AF4-B5A5-27A538CF2D69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DB727-4E3A-4D8E-8644-C7E4299F88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8081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CBDA3-3181-4AF4-B5A5-27A538CF2D69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DB727-4E3A-4D8E-8644-C7E4299F88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492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defRPr>
            </a:lvl1pPr>
          </a:lstStyle>
          <a:p>
            <a:fld id="{DB0CBDA3-3181-4AF4-B5A5-27A538CF2D69}" type="datetimeFigureOut">
              <a:rPr lang="ko-KR" altLang="en-US" smtClean="0"/>
              <a:pPr/>
              <a:t>2026-04-02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defRPr>
            </a:lvl1pPr>
          </a:lstStyle>
          <a:p>
            <a:fld id="{A7FDB727-4E3A-4D8E-8644-C7E4299F881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4179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고딕16" panose="02020600000000000000" pitchFamily="18" charset="-127"/>
          <a:ea typeface="a고딕16" panose="02020600000000000000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고딕16" panose="02020600000000000000" pitchFamily="18" charset="-127"/>
          <a:ea typeface="a고딕16" panose="02020600000000000000" pitchFamily="18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고딕16" panose="02020600000000000000" pitchFamily="18" charset="-127"/>
          <a:ea typeface="a고딕16" panose="02020600000000000000" pitchFamily="18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고딕16" panose="02020600000000000000" pitchFamily="18" charset="-127"/>
          <a:ea typeface="a고딕16" panose="02020600000000000000" pitchFamily="18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고딕16" panose="02020600000000000000" pitchFamily="18" charset="-127"/>
          <a:ea typeface="a고딕16" panose="02020600000000000000" pitchFamily="18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고딕16" panose="02020600000000000000" pitchFamily="18" charset="-127"/>
          <a:ea typeface="a고딕16" panose="02020600000000000000" pitchFamily="18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-30479" y="376146"/>
            <a:ext cx="3427071" cy="100440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7050" y="164926"/>
            <a:ext cx="69442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600" dirty="0">
                <a:solidFill>
                  <a:schemeClr val="bg1"/>
                </a:solidFill>
                <a:latin typeface="Chiller" panose="04020404031007020602" pitchFamily="82" charset="0"/>
                <a:ea typeface="a고딕16" panose="02020600000000000000" pitchFamily="18" charset="-127"/>
              </a:rPr>
              <a:t>2</a:t>
            </a:r>
            <a:endParaRPr lang="ko-KR" altLang="en-US" sz="9600" dirty="0">
              <a:solidFill>
                <a:schemeClr val="bg1"/>
              </a:solidFill>
              <a:latin typeface="Chiller" panose="04020404031007020602" pitchFamily="82" charset="0"/>
              <a:ea typeface="a고딕16" panose="02020600000000000000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5151" y="399772"/>
            <a:ext cx="9060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질서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151" y="949756"/>
            <a:ext cx="25314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경성뎐</a:t>
            </a:r>
            <a:r>
              <a:rPr lang="en-US" altLang="ko-KR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lang="ko-KR" altLang="en-US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가제</a:t>
            </a:r>
            <a:r>
              <a:rPr lang="en-US" altLang="ko-KR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</a:t>
            </a:r>
            <a:endParaRPr lang="ko-KR" altLang="en-US" sz="1600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pic>
        <p:nvPicPr>
          <p:cNvPr id="3" name="그림 2" descr="산, 실외, 하얀색, 오래된이(가) 표시된 사진&#10;&#10;자동 생성된 설명">
            <a:extLst>
              <a:ext uri="{FF2B5EF4-FFF2-40B4-BE49-F238E27FC236}">
                <a16:creationId xmlns:a16="http://schemas.microsoft.com/office/drawing/2014/main" id="{6B4A16B3-BF97-4712-BAA9-7A078FF7E1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050" y="1883994"/>
            <a:ext cx="6096000" cy="36766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CB0766-3B21-49F8-A3F7-9DAEB6376E06}"/>
              </a:ext>
            </a:extLst>
          </p:cNvPr>
          <p:cNvSpPr txBox="1"/>
          <p:nvPr/>
        </p:nvSpPr>
        <p:spPr>
          <a:xfrm>
            <a:off x="6529634" y="1707022"/>
            <a:ext cx="547531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700" dirty="0">
                <a:solidFill>
                  <a:schemeClr val="bg1"/>
                </a:solidFill>
                <a:latin typeface="배달의민족 한나는 열한살 OTF" panose="020B0600000101010101" pitchFamily="34" charset="-127"/>
                <a:ea typeface="배달의민족 한나는 열한살 OTF" panose="020B0600000101010101" pitchFamily="34" charset="-127"/>
              </a:rPr>
              <a:t>대부분 현실의 </a:t>
            </a:r>
            <a:r>
              <a:rPr lang="en-US" altLang="ko-KR" sz="1700" dirty="0">
                <a:solidFill>
                  <a:schemeClr val="bg1"/>
                </a:solidFill>
                <a:latin typeface="배달의민족 한나는 열한살 OTF" panose="020B0600000101010101" pitchFamily="34" charset="-127"/>
                <a:ea typeface="배달의민족 한나는 열한살 OTF" panose="020B0600000101010101" pitchFamily="34" charset="-127"/>
              </a:rPr>
              <a:t>1930</a:t>
            </a:r>
            <a:r>
              <a:rPr lang="ko-KR" altLang="en-US" sz="1700" dirty="0">
                <a:solidFill>
                  <a:schemeClr val="bg1"/>
                </a:solidFill>
                <a:latin typeface="배달의민족 한나는 열한살 OTF" panose="020B0600000101010101" pitchFamily="34" charset="-127"/>
                <a:ea typeface="배달의민족 한나는 열한살 OTF" panose="020B0600000101010101" pitchFamily="34" charset="-127"/>
              </a:rPr>
              <a:t>년대 종로와 경성의 질서를 따른다</a:t>
            </a:r>
            <a:r>
              <a:rPr lang="en-US" altLang="ko-KR" sz="1700" dirty="0">
                <a:solidFill>
                  <a:schemeClr val="bg1"/>
                </a:solidFill>
                <a:latin typeface="배달의민족 한나는 열한살 OTF" panose="020B0600000101010101" pitchFamily="34" charset="-127"/>
                <a:ea typeface="배달의민족 한나는 열한살 OTF" panose="020B0600000101010101" pitchFamily="34" charset="-127"/>
              </a:rPr>
              <a:t>.</a:t>
            </a:r>
            <a:endParaRPr lang="ko-KR" altLang="en-US" sz="1700" dirty="0">
              <a:solidFill>
                <a:schemeClr val="bg1"/>
              </a:solidFill>
              <a:latin typeface="배달의민족 한나는 열한살 OTF" panose="020B0600000101010101" pitchFamily="34" charset="-127"/>
              <a:ea typeface="배달의민족 한나는 열한살 OTF" panose="020B0600000101010101" pitchFamily="34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311FCB-65E7-4EF0-BC16-C78B9DB4446E}"/>
              </a:ext>
            </a:extLst>
          </p:cNvPr>
          <p:cNvSpPr txBox="1"/>
          <p:nvPr/>
        </p:nvSpPr>
        <p:spPr>
          <a:xfrm>
            <a:off x="6529634" y="2957352"/>
            <a:ext cx="547531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700" dirty="0">
                <a:solidFill>
                  <a:schemeClr val="bg1"/>
                </a:solidFill>
                <a:latin typeface="배달의민족 한나는 열한살 OTF" panose="020B0600000101010101" pitchFamily="34" charset="-127"/>
                <a:ea typeface="배달의민족 한나는 열한살 OTF" panose="020B0600000101010101" pitchFamily="34" charset="-127"/>
              </a:rPr>
              <a:t>요괴가 실제로 존재한다</a:t>
            </a:r>
            <a:r>
              <a:rPr lang="en-US" altLang="ko-KR" sz="1700" dirty="0">
                <a:solidFill>
                  <a:schemeClr val="bg1"/>
                </a:solidFill>
                <a:latin typeface="배달의민족 한나는 열한살 OTF" panose="020B0600000101010101" pitchFamily="34" charset="-127"/>
                <a:ea typeface="배달의민족 한나는 열한살 OTF" panose="020B0600000101010101" pitchFamily="34" charset="-127"/>
              </a:rPr>
              <a:t>. </a:t>
            </a:r>
            <a:endParaRPr lang="ko-KR" altLang="en-US" sz="1700" dirty="0">
              <a:solidFill>
                <a:schemeClr val="bg1"/>
              </a:solidFill>
              <a:latin typeface="배달의민족 한나는 열한살 OTF" panose="020B0600000101010101" pitchFamily="34" charset="-127"/>
              <a:ea typeface="배달의민족 한나는 열한살 OTF" panose="020B0600000101010101" pitchFamily="34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37C1E0-068B-404B-AFC5-A9E822461A1F}"/>
              </a:ext>
            </a:extLst>
          </p:cNvPr>
          <p:cNvSpPr txBox="1"/>
          <p:nvPr/>
        </p:nvSpPr>
        <p:spPr>
          <a:xfrm>
            <a:off x="6529634" y="3646016"/>
            <a:ext cx="547531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700" dirty="0">
                <a:solidFill>
                  <a:schemeClr val="bg1"/>
                </a:solidFill>
                <a:latin typeface="배달의민족 한나는 열한살 OTF" panose="020B0600000101010101" pitchFamily="34" charset="-127"/>
                <a:ea typeface="배달의민족 한나는 열한살 OTF" panose="020B0600000101010101" pitchFamily="34" charset="-127"/>
              </a:rPr>
              <a:t>청의동자라는 신은 실제로 존재한다</a:t>
            </a:r>
            <a:r>
              <a:rPr lang="en-US" altLang="ko-KR" sz="1700" dirty="0">
                <a:solidFill>
                  <a:schemeClr val="bg1"/>
                </a:solidFill>
                <a:latin typeface="배달의민족 한나는 열한살 OTF" panose="020B0600000101010101" pitchFamily="34" charset="-127"/>
                <a:ea typeface="배달의민족 한나는 열한살 OTF" panose="020B0600000101010101" pitchFamily="34" charset="-127"/>
              </a:rPr>
              <a:t>.</a:t>
            </a:r>
            <a:endParaRPr lang="ko-KR" altLang="en-US" sz="1700" dirty="0">
              <a:solidFill>
                <a:schemeClr val="bg1"/>
              </a:solidFill>
              <a:latin typeface="배달의민족 한나는 열한살 OTF" panose="020B0600000101010101" pitchFamily="34" charset="-127"/>
              <a:ea typeface="배달의민족 한나는 열한살 OTF" panose="020B0600000101010101" pitchFamily="34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07D1E87-44D6-41ED-8280-03775EE46CE6}"/>
              </a:ext>
            </a:extLst>
          </p:cNvPr>
          <p:cNvSpPr txBox="1"/>
          <p:nvPr/>
        </p:nvSpPr>
        <p:spPr>
          <a:xfrm>
            <a:off x="6529634" y="4334680"/>
            <a:ext cx="547531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700" dirty="0">
                <a:solidFill>
                  <a:schemeClr val="bg1"/>
                </a:solidFill>
                <a:latin typeface="배달의민족 한나는 열한살 OTF" panose="020B0600000101010101" pitchFamily="34" charset="-127"/>
                <a:ea typeface="배달의민족 한나는 열한살 OTF" panose="020B0600000101010101" pitchFamily="34" charset="-127"/>
              </a:rPr>
              <a:t>다만 대부분의 사람들은 알지 못한다</a:t>
            </a:r>
            <a:r>
              <a:rPr lang="en-US" altLang="ko-KR" sz="1700" dirty="0">
                <a:solidFill>
                  <a:schemeClr val="bg1"/>
                </a:solidFill>
                <a:latin typeface="배달의민족 한나는 열한살 OTF" panose="020B0600000101010101" pitchFamily="34" charset="-127"/>
                <a:ea typeface="배달의민족 한나는 열한살 OTF" panose="020B0600000101010101" pitchFamily="34" charset="-127"/>
              </a:rPr>
              <a:t>.</a:t>
            </a:r>
            <a:endParaRPr lang="ko-KR" altLang="en-US" sz="1700" dirty="0">
              <a:solidFill>
                <a:schemeClr val="bg1"/>
              </a:solidFill>
              <a:latin typeface="배달의민족 한나는 열한살 OTF" panose="020B0600000101010101" pitchFamily="34" charset="-127"/>
              <a:ea typeface="배달의민족 한나는 열한살 OTF" panose="020B0600000101010101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597188-33FB-45A5-9113-F090C8E23C43}"/>
              </a:ext>
            </a:extLst>
          </p:cNvPr>
          <p:cNvSpPr txBox="1"/>
          <p:nvPr/>
        </p:nvSpPr>
        <p:spPr>
          <a:xfrm>
            <a:off x="6529634" y="2332187"/>
            <a:ext cx="547531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700" dirty="0">
                <a:solidFill>
                  <a:schemeClr val="bg1"/>
                </a:solidFill>
                <a:latin typeface="배달의민족 한나는 열한살 OTF" panose="020B0600000101010101" pitchFamily="34" charset="-127"/>
                <a:ea typeface="배달의민족 한나는 열한살 OTF" panose="020B0600000101010101" pitchFamily="34" charset="-127"/>
              </a:rPr>
              <a:t>초자연적인 일이 일어난다</a:t>
            </a:r>
            <a:r>
              <a:rPr lang="en-US" altLang="ko-KR" sz="1700" dirty="0">
                <a:solidFill>
                  <a:schemeClr val="bg1"/>
                </a:solidFill>
                <a:latin typeface="배달의민족 한나는 열한살 OTF" panose="020B0600000101010101" pitchFamily="34" charset="-127"/>
                <a:ea typeface="배달의민족 한나는 열한살 OTF" panose="020B0600000101010101" pitchFamily="34" charset="-127"/>
              </a:rPr>
              <a:t>.</a:t>
            </a:r>
            <a:endParaRPr lang="ko-KR" altLang="en-US" sz="1700" dirty="0">
              <a:solidFill>
                <a:schemeClr val="bg1"/>
              </a:solidFill>
              <a:latin typeface="배달의민족 한나는 열한살 OTF" panose="020B0600000101010101" pitchFamily="34" charset="-127"/>
              <a:ea typeface="배달의민족 한나는 열한살 OTF" panose="020B0600000101010101" pitchFamily="34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EA8C7E-3F51-35EC-7EB7-EF20A2B31C7A}"/>
              </a:ext>
            </a:extLst>
          </p:cNvPr>
          <p:cNvSpPr txBox="1"/>
          <p:nvPr/>
        </p:nvSpPr>
        <p:spPr>
          <a:xfrm>
            <a:off x="6529634" y="4960956"/>
            <a:ext cx="547531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700" dirty="0">
                <a:solidFill>
                  <a:schemeClr val="bg1"/>
                </a:solidFill>
                <a:latin typeface="배달의민족 한나는 열한살 OTF" panose="020B0600000101010101" pitchFamily="34" charset="-127"/>
                <a:ea typeface="배달의민족 한나는 열한살 OTF" panose="020B0600000101010101" pitchFamily="34" charset="-127"/>
              </a:rPr>
              <a:t>끔찍한 상황이나 초월적인 존재를 마주하면 정신력이 감소한다</a:t>
            </a:r>
            <a:r>
              <a:rPr lang="en-US" altLang="ko-KR" sz="1700" dirty="0">
                <a:solidFill>
                  <a:schemeClr val="bg1"/>
                </a:solidFill>
                <a:latin typeface="배달의민족 한나는 열한살 OTF" panose="020B0600000101010101" pitchFamily="34" charset="-127"/>
                <a:ea typeface="배달의민족 한나는 열한살 OTF" panose="020B0600000101010101" pitchFamily="34" charset="-127"/>
              </a:rPr>
              <a:t>.</a:t>
            </a:r>
            <a:endParaRPr lang="ko-KR" altLang="en-US" sz="1700" dirty="0">
              <a:solidFill>
                <a:schemeClr val="bg1"/>
              </a:solidFill>
              <a:latin typeface="배달의민족 한나는 열한살 OTF" panose="020B0600000101010101" pitchFamily="34" charset="-127"/>
              <a:ea typeface="배달의민족 한나는 열한살 OTF" panose="020B0600000101010101" pitchFamily="34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C1BA65-FB48-20D4-4F66-C22B978EC01F}"/>
              </a:ext>
            </a:extLst>
          </p:cNvPr>
          <p:cNvSpPr txBox="1"/>
          <p:nvPr/>
        </p:nvSpPr>
        <p:spPr>
          <a:xfrm>
            <a:off x="6529634" y="5665841"/>
            <a:ext cx="547531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700" dirty="0" err="1">
                <a:solidFill>
                  <a:schemeClr val="bg1"/>
                </a:solidFill>
                <a:latin typeface="배달의민족 한나는 열한살 OTF" panose="020B0600000101010101" pitchFamily="34" charset="-127"/>
                <a:ea typeface="배달의민족 한나는 열한살 OTF" panose="020B0600000101010101" pitchFamily="34" charset="-127"/>
              </a:rPr>
              <a:t>청의동자는</a:t>
            </a:r>
            <a:r>
              <a:rPr lang="ko-KR" altLang="en-US" sz="1700" dirty="0">
                <a:solidFill>
                  <a:schemeClr val="bg1"/>
                </a:solidFill>
                <a:latin typeface="배달의민족 한나는 열한살 OTF" panose="020B0600000101010101" pitchFamily="34" charset="-127"/>
                <a:ea typeface="배달의민족 한나는 열한살 OTF" panose="020B0600000101010101" pitchFamily="34" charset="-127"/>
              </a:rPr>
              <a:t> </a:t>
            </a:r>
            <a:r>
              <a:rPr lang="ko-KR" altLang="en-US" sz="1700" dirty="0" err="1">
                <a:solidFill>
                  <a:schemeClr val="bg1"/>
                </a:solidFill>
                <a:latin typeface="배달의민족 한나는 열한살 OTF" panose="020B0600000101010101" pitchFamily="34" charset="-127"/>
                <a:ea typeface="배달의민족 한나는 열한살 OTF" panose="020B0600000101010101" pitchFamily="34" charset="-127"/>
              </a:rPr>
              <a:t>니알라토텝</a:t>
            </a:r>
            <a:r>
              <a:rPr lang="en-US" altLang="ko-KR" sz="1700" dirty="0">
                <a:solidFill>
                  <a:schemeClr val="bg1"/>
                </a:solidFill>
                <a:latin typeface="배달의민족 한나는 열한살 OTF" panose="020B0600000101010101" pitchFamily="34" charset="-127"/>
                <a:ea typeface="배달의민족 한나는 열한살 OTF" panose="020B0600000101010101" pitchFamily="34" charset="-127"/>
              </a:rPr>
              <a:t>(</a:t>
            </a:r>
            <a:r>
              <a:rPr lang="ko-KR" altLang="en-US" sz="1700" dirty="0" err="1">
                <a:solidFill>
                  <a:schemeClr val="bg1"/>
                </a:solidFill>
                <a:latin typeface="배달의민족 한나는 열한살 OTF" panose="020B0600000101010101" pitchFamily="34" charset="-127"/>
                <a:ea typeface="배달의민족 한나는 열한살 OTF" panose="020B0600000101010101" pitchFamily="34" charset="-127"/>
              </a:rPr>
              <a:t>크툴루</a:t>
            </a:r>
            <a:r>
              <a:rPr lang="ko-KR" altLang="en-US" sz="1700" dirty="0">
                <a:solidFill>
                  <a:schemeClr val="bg1"/>
                </a:solidFill>
                <a:latin typeface="배달의민족 한나는 열한살 OTF" panose="020B0600000101010101" pitchFamily="34" charset="-127"/>
                <a:ea typeface="배달의민족 한나는 열한살 OTF" panose="020B0600000101010101" pitchFamily="34" charset="-127"/>
              </a:rPr>
              <a:t> 신화의 신</a:t>
            </a:r>
            <a:r>
              <a:rPr lang="en-US" altLang="ko-KR" sz="1700" dirty="0">
                <a:solidFill>
                  <a:schemeClr val="bg1"/>
                </a:solidFill>
                <a:latin typeface="배달의민족 한나는 열한살 OTF" panose="020B0600000101010101" pitchFamily="34" charset="-127"/>
                <a:ea typeface="배달의민족 한나는 열한살 OTF" panose="020B0600000101010101" pitchFamily="34" charset="-127"/>
              </a:rPr>
              <a:t>)</a:t>
            </a:r>
            <a:r>
              <a:rPr lang="ko-KR" altLang="en-US" sz="1700" dirty="0">
                <a:solidFill>
                  <a:schemeClr val="bg1"/>
                </a:solidFill>
                <a:latin typeface="배달의민족 한나는 열한살 OTF" panose="020B0600000101010101" pitchFamily="34" charset="-127"/>
                <a:ea typeface="배달의민족 한나는 열한살 OTF" panose="020B0600000101010101" pitchFamily="34" charset="-127"/>
              </a:rPr>
              <a:t>의 아바타이다</a:t>
            </a:r>
            <a:r>
              <a:rPr lang="en-US" altLang="ko-KR" sz="1700" dirty="0">
                <a:solidFill>
                  <a:schemeClr val="bg1"/>
                </a:solidFill>
                <a:latin typeface="배달의민족 한나는 열한살 OTF" panose="020B0600000101010101" pitchFamily="34" charset="-127"/>
                <a:ea typeface="배달의민족 한나는 열한살 OTF" panose="020B0600000101010101" pitchFamily="34" charset="-127"/>
              </a:rPr>
              <a:t>.</a:t>
            </a:r>
            <a:endParaRPr lang="ko-KR" altLang="en-US" sz="1700" dirty="0">
              <a:solidFill>
                <a:schemeClr val="bg1"/>
              </a:solidFill>
              <a:latin typeface="배달의민족 한나는 열한살 OTF" panose="020B0600000101010101" pitchFamily="34" charset="-127"/>
              <a:ea typeface="배달의민족 한나는 열한살 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2881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-30479" y="376146"/>
            <a:ext cx="3427071" cy="100440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558" y="141256"/>
            <a:ext cx="69442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600" dirty="0">
                <a:solidFill>
                  <a:schemeClr val="bg1"/>
                </a:solidFill>
                <a:latin typeface="Chiller" panose="04020404031007020602" pitchFamily="82" charset="0"/>
                <a:ea typeface="a고딕16" panose="02020600000000000000" pitchFamily="18" charset="-127"/>
              </a:rPr>
              <a:t>2</a:t>
            </a:r>
            <a:endParaRPr lang="ko-KR" altLang="en-US" sz="9600" dirty="0">
              <a:solidFill>
                <a:schemeClr val="bg1"/>
              </a:solidFill>
              <a:latin typeface="Chiller" panose="04020404031007020602" pitchFamily="82" charset="0"/>
              <a:ea typeface="a고딕16" panose="02020600000000000000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5151" y="399772"/>
            <a:ext cx="25314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질료</a:t>
            </a:r>
            <a:r>
              <a:rPr lang="en-US" altLang="ko-KR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lang="ko-KR" altLang="en-US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공간적</a:t>
            </a:r>
            <a:r>
              <a:rPr lang="en-US" altLang="ko-KR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</a:t>
            </a:r>
            <a:endParaRPr lang="ko-KR" altLang="en-US" sz="3200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5151" y="949756"/>
            <a:ext cx="25314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경성뎐</a:t>
            </a:r>
            <a:r>
              <a:rPr lang="en-US" altLang="ko-KR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lang="ko-KR" altLang="en-US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가제</a:t>
            </a:r>
            <a:r>
              <a:rPr lang="en-US" altLang="ko-KR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</a:t>
            </a:r>
            <a:endParaRPr lang="ko-KR" altLang="en-US" sz="1600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pic>
        <p:nvPicPr>
          <p:cNvPr id="8" name="그림 7" descr="텍스트, 건물, 실외, 거리이(가) 표시된 사진&#10;&#10;자동 생성된 설명">
            <a:extLst>
              <a:ext uri="{FF2B5EF4-FFF2-40B4-BE49-F238E27FC236}">
                <a16:creationId xmlns:a16="http://schemas.microsoft.com/office/drawing/2014/main" id="{96DA526A-A99C-42EC-8B13-03AF10A1C1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58" y="2260900"/>
            <a:ext cx="4394427" cy="26503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7605A83-A401-43A6-AA2B-CA8749388B1E}"/>
              </a:ext>
            </a:extLst>
          </p:cNvPr>
          <p:cNvSpPr txBox="1"/>
          <p:nvPr/>
        </p:nvSpPr>
        <p:spPr>
          <a:xfrm>
            <a:off x="986979" y="5197346"/>
            <a:ext cx="2969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1930</a:t>
            </a:r>
            <a:r>
              <a:rPr lang="ko-KR" altLang="en-US" sz="200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년대 초 </a:t>
            </a:r>
            <a:r>
              <a:rPr lang="ko-KR" altLang="en-US" sz="2000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종로네거리</a:t>
            </a:r>
            <a:endParaRPr lang="ko-KR" altLang="en-US" sz="2000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733F40-A593-4E11-9054-5985A5361E05}"/>
              </a:ext>
            </a:extLst>
          </p:cNvPr>
          <p:cNvSpPr txBox="1"/>
          <p:nvPr/>
        </p:nvSpPr>
        <p:spPr>
          <a:xfrm>
            <a:off x="7868526" y="5779595"/>
            <a:ext cx="27965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0" i="0" dirty="0">
                <a:solidFill>
                  <a:schemeClr val="bg1"/>
                </a:solidFill>
                <a:effectLst/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1930</a:t>
            </a:r>
            <a:r>
              <a:rPr lang="ko-KR" altLang="en-US" sz="2000" b="0" i="0" dirty="0">
                <a:solidFill>
                  <a:schemeClr val="bg1"/>
                </a:solidFill>
                <a:effectLst/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년대 경성의 지도</a:t>
            </a:r>
            <a:endParaRPr lang="ko-KR" altLang="en-US" sz="2000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10" name="그림 9" descr="지도이(가) 표시된 사진&#10;&#10;자동 생성된 설명">
            <a:extLst>
              <a:ext uri="{FF2B5EF4-FFF2-40B4-BE49-F238E27FC236}">
                <a16:creationId xmlns:a16="http://schemas.microsoft.com/office/drawing/2014/main" id="{A5839C62-2FF3-C0B3-CE1E-A0A07CE205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3575" y="878350"/>
            <a:ext cx="5962650" cy="4479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0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-30479" y="376146"/>
            <a:ext cx="3427071" cy="100440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558" y="141256"/>
            <a:ext cx="69442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600" dirty="0">
                <a:solidFill>
                  <a:schemeClr val="bg1"/>
                </a:solidFill>
                <a:latin typeface="Chiller" panose="04020404031007020602" pitchFamily="82" charset="0"/>
                <a:ea typeface="a고딕16" panose="02020600000000000000" pitchFamily="18" charset="-127"/>
              </a:rPr>
              <a:t>2</a:t>
            </a:r>
            <a:endParaRPr lang="ko-KR" altLang="en-US" sz="9600" dirty="0">
              <a:solidFill>
                <a:schemeClr val="bg1"/>
              </a:solidFill>
              <a:latin typeface="Chiller" panose="04020404031007020602" pitchFamily="82" charset="0"/>
              <a:ea typeface="a고딕16" panose="02020600000000000000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5151" y="399772"/>
            <a:ext cx="25314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질료</a:t>
            </a:r>
            <a:r>
              <a:rPr lang="en-US" altLang="ko-KR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lang="ko-KR" altLang="en-US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공간적</a:t>
            </a:r>
            <a:r>
              <a:rPr lang="en-US" altLang="ko-KR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</a:t>
            </a:r>
            <a:endParaRPr lang="ko-KR" altLang="en-US" sz="3200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5151" y="949756"/>
            <a:ext cx="25314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경성뎐</a:t>
            </a:r>
            <a:r>
              <a:rPr lang="en-US" altLang="ko-KR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lang="ko-KR" altLang="en-US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가제</a:t>
            </a:r>
            <a:r>
              <a:rPr lang="en-US" altLang="ko-KR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</a:t>
            </a:r>
            <a:endParaRPr lang="ko-KR" altLang="en-US" sz="1600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605A83-A401-43A6-AA2B-CA8749388B1E}"/>
              </a:ext>
            </a:extLst>
          </p:cNvPr>
          <p:cNvSpPr txBox="1"/>
          <p:nvPr/>
        </p:nvSpPr>
        <p:spPr>
          <a:xfrm>
            <a:off x="4778603" y="5733353"/>
            <a:ext cx="26347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신문사 </a:t>
            </a:r>
            <a:r>
              <a:rPr lang="en-US" altLang="ko-KR" sz="200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&lt;</a:t>
            </a:r>
            <a:r>
              <a:rPr lang="ko-KR" altLang="en-US" sz="200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난향일보</a:t>
            </a:r>
            <a:r>
              <a:rPr lang="en-US" altLang="ko-KR" sz="200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&gt;</a:t>
            </a:r>
            <a:endParaRPr lang="ko-KR" altLang="en-US" sz="2000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3" name="그림 2" descr="텍스트, 오래된, 하얀색이(가) 표시된 사진&#10;&#10;자동 생성된 설명">
            <a:extLst>
              <a:ext uri="{FF2B5EF4-FFF2-40B4-BE49-F238E27FC236}">
                <a16:creationId xmlns:a16="http://schemas.microsoft.com/office/drawing/2014/main" id="{190E07F2-A516-466D-92D1-F9BD34747A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1873" y="1404181"/>
            <a:ext cx="5973489" cy="421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092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-30479" y="376146"/>
            <a:ext cx="3427071" cy="100440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558" y="141256"/>
            <a:ext cx="69442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600" dirty="0">
                <a:solidFill>
                  <a:schemeClr val="bg1"/>
                </a:solidFill>
                <a:latin typeface="Chiller" panose="04020404031007020602" pitchFamily="82" charset="0"/>
                <a:ea typeface="a고딕16" panose="02020600000000000000" pitchFamily="18" charset="-127"/>
              </a:rPr>
              <a:t>2</a:t>
            </a:r>
            <a:endParaRPr lang="ko-KR" altLang="en-US" sz="9600" dirty="0">
              <a:solidFill>
                <a:schemeClr val="bg1"/>
              </a:solidFill>
              <a:latin typeface="Chiller" panose="04020404031007020602" pitchFamily="82" charset="0"/>
              <a:ea typeface="a고딕16" panose="02020600000000000000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5151" y="399772"/>
            <a:ext cx="25314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질료</a:t>
            </a:r>
            <a:r>
              <a:rPr lang="en-US" altLang="ko-KR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lang="ko-KR" altLang="en-US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공간적</a:t>
            </a:r>
            <a:r>
              <a:rPr lang="en-US" altLang="ko-KR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</a:t>
            </a:r>
            <a:endParaRPr lang="ko-KR" altLang="en-US" sz="3200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5151" y="949756"/>
            <a:ext cx="25314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경성뎐</a:t>
            </a:r>
            <a:r>
              <a:rPr lang="en-US" altLang="ko-KR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lang="ko-KR" altLang="en-US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가제</a:t>
            </a:r>
            <a:r>
              <a:rPr lang="en-US" altLang="ko-KR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</a:t>
            </a:r>
            <a:endParaRPr lang="ko-KR" altLang="en-US" sz="1600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605A83-A401-43A6-AA2B-CA8749388B1E}"/>
              </a:ext>
            </a:extLst>
          </p:cNvPr>
          <p:cNvSpPr txBox="1"/>
          <p:nvPr/>
        </p:nvSpPr>
        <p:spPr>
          <a:xfrm>
            <a:off x="5389854" y="5830551"/>
            <a:ext cx="2683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다방 </a:t>
            </a:r>
            <a:r>
              <a:rPr lang="en-US" altLang="ko-KR" sz="200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&lt;</a:t>
            </a:r>
            <a:r>
              <a:rPr lang="ko-KR" altLang="en-US" sz="200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낙원</a:t>
            </a:r>
            <a:r>
              <a:rPr lang="en-US" altLang="ko-KR" sz="200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&gt;</a:t>
            </a:r>
            <a:endParaRPr lang="ko-KR" altLang="en-US" sz="2000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10" name="그림 9" descr="텍스트, 실외이(가) 표시된 사진&#10;&#10;자동 생성된 설명">
            <a:extLst>
              <a:ext uri="{FF2B5EF4-FFF2-40B4-BE49-F238E27FC236}">
                <a16:creationId xmlns:a16="http://schemas.microsoft.com/office/drawing/2014/main" id="{CF7BFF57-4AA9-4126-88CE-7C6C34913E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185" y="1238250"/>
            <a:ext cx="43815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321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-30479" y="376146"/>
            <a:ext cx="3427071" cy="100440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558" y="141256"/>
            <a:ext cx="69442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600" dirty="0">
                <a:solidFill>
                  <a:schemeClr val="bg1"/>
                </a:solidFill>
                <a:latin typeface="Chiller" panose="04020404031007020602" pitchFamily="82" charset="0"/>
                <a:ea typeface="a고딕16" panose="02020600000000000000" pitchFamily="18" charset="-127"/>
              </a:rPr>
              <a:t>2</a:t>
            </a:r>
            <a:endParaRPr lang="ko-KR" altLang="en-US" sz="9600" dirty="0">
              <a:solidFill>
                <a:schemeClr val="bg1"/>
              </a:solidFill>
              <a:latin typeface="Chiller" panose="04020404031007020602" pitchFamily="82" charset="0"/>
              <a:ea typeface="a고딕16" panose="02020600000000000000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5151" y="399772"/>
            <a:ext cx="25314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질료</a:t>
            </a:r>
            <a:r>
              <a:rPr lang="en-US" altLang="ko-KR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lang="ko-KR" altLang="en-US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공간적</a:t>
            </a:r>
            <a:r>
              <a:rPr lang="en-US" altLang="ko-KR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</a:t>
            </a:r>
            <a:endParaRPr lang="ko-KR" altLang="en-US" sz="3200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5151" y="949756"/>
            <a:ext cx="25314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경성뎐</a:t>
            </a:r>
            <a:r>
              <a:rPr lang="en-US" altLang="ko-KR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lang="ko-KR" altLang="en-US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가제</a:t>
            </a:r>
            <a:r>
              <a:rPr lang="en-US" altLang="ko-KR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</a:t>
            </a:r>
            <a:endParaRPr lang="ko-KR" altLang="en-US" sz="1600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605A83-A401-43A6-AA2B-CA8749388B1E}"/>
              </a:ext>
            </a:extLst>
          </p:cNvPr>
          <p:cNvSpPr txBox="1"/>
          <p:nvPr/>
        </p:nvSpPr>
        <p:spPr>
          <a:xfrm>
            <a:off x="5312051" y="5691066"/>
            <a:ext cx="2683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청의교</a:t>
            </a:r>
            <a:r>
              <a:rPr lang="ko-KR" altLang="en-US" sz="200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교회당</a:t>
            </a:r>
          </a:p>
        </p:txBody>
      </p:sp>
      <p:pic>
        <p:nvPicPr>
          <p:cNvPr id="3" name="그림 2" descr="그룹, 사람들, 군중이(가) 표시된 사진&#10;&#10;자동 생성된 설명">
            <a:extLst>
              <a:ext uri="{FF2B5EF4-FFF2-40B4-BE49-F238E27FC236}">
                <a16:creationId xmlns:a16="http://schemas.microsoft.com/office/drawing/2014/main" id="{83F9F82D-4FC0-4BEF-96DE-4458E836E3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6271" y="2218518"/>
            <a:ext cx="5295254" cy="288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388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-30479" y="376146"/>
            <a:ext cx="3427071" cy="100440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558" y="141256"/>
            <a:ext cx="69442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600" dirty="0">
                <a:solidFill>
                  <a:schemeClr val="bg1"/>
                </a:solidFill>
                <a:latin typeface="Chiller" panose="04020404031007020602" pitchFamily="82" charset="0"/>
                <a:ea typeface="a고딕16" panose="02020600000000000000" pitchFamily="18" charset="-127"/>
              </a:rPr>
              <a:t>2</a:t>
            </a:r>
            <a:endParaRPr lang="ko-KR" altLang="en-US" sz="9600" dirty="0">
              <a:solidFill>
                <a:schemeClr val="bg1"/>
              </a:solidFill>
              <a:latin typeface="Chiller" panose="04020404031007020602" pitchFamily="82" charset="0"/>
              <a:ea typeface="a고딕16" panose="02020600000000000000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5151" y="399772"/>
            <a:ext cx="26116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질료</a:t>
            </a:r>
            <a:r>
              <a:rPr lang="en-US" altLang="ko-KR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lang="ko-KR" altLang="en-US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등장인물</a:t>
            </a:r>
            <a:r>
              <a:rPr lang="en-US" altLang="ko-KR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</a:t>
            </a:r>
            <a:endParaRPr lang="ko-KR" altLang="en-US" sz="3200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5151" y="949756"/>
            <a:ext cx="25314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경성뎐</a:t>
            </a:r>
            <a:r>
              <a:rPr lang="en-US" altLang="ko-KR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lang="ko-KR" altLang="en-US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가제</a:t>
            </a:r>
            <a:r>
              <a:rPr lang="en-US" altLang="ko-KR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</a:t>
            </a:r>
            <a:endParaRPr lang="ko-KR" altLang="en-US" sz="1600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196734-9F02-4DF8-95FD-84381235C73B}"/>
              </a:ext>
            </a:extLst>
          </p:cNvPr>
          <p:cNvSpPr txBox="1"/>
          <p:nvPr/>
        </p:nvSpPr>
        <p:spPr>
          <a:xfrm>
            <a:off x="2124654" y="5765523"/>
            <a:ext cx="1751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유웅룡</a:t>
            </a:r>
            <a:endParaRPr lang="ko-KR" altLang="en-US" sz="2000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7" name="그림 6" descr="남자, 사람, 서있는, 정장이(가) 표시된 사진&#10;&#10;자동 생성된 설명">
            <a:extLst>
              <a:ext uri="{FF2B5EF4-FFF2-40B4-BE49-F238E27FC236}">
                <a16:creationId xmlns:a16="http://schemas.microsoft.com/office/drawing/2014/main" id="{5CA513DD-6F61-469B-9F06-F15D96D910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997" y="1734542"/>
            <a:ext cx="3746033" cy="3746033"/>
          </a:xfrm>
          <a:prstGeom prst="rect">
            <a:avLst/>
          </a:prstGeom>
        </p:spPr>
      </p:pic>
      <p:pic>
        <p:nvPicPr>
          <p:cNvPr id="9" name="그림 8" descr="텍스트, 사람, 실외이(가) 표시된 사진&#10;&#10;자동 생성된 설명">
            <a:extLst>
              <a:ext uri="{FF2B5EF4-FFF2-40B4-BE49-F238E27FC236}">
                <a16:creationId xmlns:a16="http://schemas.microsoft.com/office/drawing/2014/main" id="{170C2B65-A7C6-485C-A8D5-3E867DD1ED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3677" y="1910927"/>
            <a:ext cx="2664319" cy="37460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8E899DD-2621-4530-9B10-9C14FFE9FC56}"/>
              </a:ext>
            </a:extLst>
          </p:cNvPr>
          <p:cNvSpPr txBox="1"/>
          <p:nvPr/>
        </p:nvSpPr>
        <p:spPr>
          <a:xfrm>
            <a:off x="5123684" y="5765523"/>
            <a:ext cx="1751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이판규</a:t>
            </a:r>
            <a:endParaRPr lang="ko-KR" altLang="en-US" sz="2000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9421A78-452F-45C2-A366-923D34BE66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9338" y="1856645"/>
            <a:ext cx="3899650" cy="385459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4F95510-8A1A-4EF5-B209-EBC97A3837A4}"/>
              </a:ext>
            </a:extLst>
          </p:cNvPr>
          <p:cNvSpPr txBox="1"/>
          <p:nvPr/>
        </p:nvSpPr>
        <p:spPr>
          <a:xfrm>
            <a:off x="7818779" y="5811690"/>
            <a:ext cx="28029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김송순</a:t>
            </a:r>
            <a:r>
              <a:rPr lang="en-US" altLang="ko-KR" sz="200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,</a:t>
            </a:r>
            <a:r>
              <a:rPr lang="ko-KR" altLang="en-US" sz="200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ko-KR" altLang="en-US" sz="2000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김송금</a:t>
            </a:r>
            <a:endParaRPr lang="en-US" altLang="ko-KR" sz="2000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 algn="ctr"/>
            <a:r>
              <a:rPr lang="en-US" altLang="ko-KR" sz="200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(</a:t>
            </a:r>
            <a:r>
              <a:rPr lang="ko-KR" altLang="en-US" sz="200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낙원의 </a:t>
            </a:r>
            <a:r>
              <a:rPr lang="ko-KR" altLang="en-US" sz="2000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쌍둥이여급</a:t>
            </a:r>
            <a:r>
              <a:rPr lang="en-US" altLang="ko-KR" sz="200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</a:t>
            </a:r>
            <a:endParaRPr lang="ko-KR" altLang="en-US" sz="2000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7058C08-BAD2-94CB-D5D5-FA86B4480A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5187" y="1910927"/>
            <a:ext cx="3708823" cy="370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418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-30479" y="376146"/>
            <a:ext cx="3427071" cy="100440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558" y="141256"/>
            <a:ext cx="69442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600" dirty="0">
                <a:solidFill>
                  <a:schemeClr val="bg1"/>
                </a:solidFill>
                <a:latin typeface="Chiller" panose="04020404031007020602" pitchFamily="82" charset="0"/>
                <a:ea typeface="a고딕16" panose="02020600000000000000" pitchFamily="18" charset="-127"/>
              </a:rPr>
              <a:t>2</a:t>
            </a:r>
            <a:endParaRPr lang="ko-KR" altLang="en-US" sz="9600" dirty="0">
              <a:solidFill>
                <a:schemeClr val="bg1"/>
              </a:solidFill>
              <a:latin typeface="Chiller" panose="04020404031007020602" pitchFamily="82" charset="0"/>
              <a:ea typeface="a고딕16" panose="02020600000000000000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5151" y="399772"/>
            <a:ext cx="26116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질료</a:t>
            </a:r>
            <a:r>
              <a:rPr lang="en-US" altLang="ko-KR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lang="ko-KR" altLang="en-US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등장인물</a:t>
            </a:r>
            <a:r>
              <a:rPr lang="en-US" altLang="ko-KR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</a:t>
            </a:r>
            <a:endParaRPr lang="ko-KR" altLang="en-US" sz="3200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5151" y="949756"/>
            <a:ext cx="25314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경성뎐</a:t>
            </a:r>
            <a:r>
              <a:rPr lang="en-US" altLang="ko-KR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lang="ko-KR" altLang="en-US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가제</a:t>
            </a:r>
            <a:r>
              <a:rPr lang="en-US" altLang="ko-KR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</a:t>
            </a:r>
            <a:endParaRPr lang="ko-KR" altLang="en-US" sz="1600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196734-9F02-4DF8-95FD-84381235C73B}"/>
              </a:ext>
            </a:extLst>
          </p:cNvPr>
          <p:cNvSpPr txBox="1"/>
          <p:nvPr/>
        </p:nvSpPr>
        <p:spPr>
          <a:xfrm>
            <a:off x="2911497" y="5368363"/>
            <a:ext cx="1751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천룡해</a:t>
            </a:r>
            <a:endParaRPr lang="ko-KR" altLang="en-US" sz="2000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E899DD-2621-4530-9B10-9C14FFE9FC56}"/>
              </a:ext>
            </a:extLst>
          </p:cNvPr>
          <p:cNvSpPr txBox="1"/>
          <p:nvPr/>
        </p:nvSpPr>
        <p:spPr>
          <a:xfrm>
            <a:off x="8681531" y="5310135"/>
            <a:ext cx="1751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이영득</a:t>
            </a:r>
            <a:endParaRPr lang="ko-KR" altLang="en-US" sz="2000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4" name="그림 3" descr="사람이(가) 표시된 사진&#10;&#10;자동 생성된 설명">
            <a:extLst>
              <a:ext uri="{FF2B5EF4-FFF2-40B4-BE49-F238E27FC236}">
                <a16:creationId xmlns:a16="http://schemas.microsoft.com/office/drawing/2014/main" id="{82A4F4CC-9954-42E3-9074-E4AFD7441E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2040366"/>
            <a:ext cx="4505232" cy="3014278"/>
          </a:xfrm>
          <a:prstGeom prst="rect">
            <a:avLst/>
          </a:prstGeom>
        </p:spPr>
      </p:pic>
      <p:pic>
        <p:nvPicPr>
          <p:cNvPr id="8" name="그림 7" descr="텍스트이(가) 표시된 사진&#10;&#10;자동 생성된 설명">
            <a:extLst>
              <a:ext uri="{FF2B5EF4-FFF2-40B4-BE49-F238E27FC236}">
                <a16:creationId xmlns:a16="http://schemas.microsoft.com/office/drawing/2014/main" id="{E74AA454-E3F5-416D-9170-F7758EC74D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1846" y="2246422"/>
            <a:ext cx="3951490" cy="2927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038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-30479" y="376146"/>
            <a:ext cx="3427071" cy="100440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558" y="141256"/>
            <a:ext cx="69442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600" dirty="0">
                <a:solidFill>
                  <a:schemeClr val="bg1"/>
                </a:solidFill>
                <a:latin typeface="Chiller" panose="04020404031007020602" pitchFamily="82" charset="0"/>
                <a:ea typeface="a고딕16" panose="02020600000000000000" pitchFamily="18" charset="-127"/>
              </a:rPr>
              <a:t>2</a:t>
            </a:r>
            <a:endParaRPr lang="ko-KR" altLang="en-US" sz="9600" dirty="0">
              <a:solidFill>
                <a:schemeClr val="bg1"/>
              </a:solidFill>
              <a:latin typeface="Chiller" panose="04020404031007020602" pitchFamily="82" charset="0"/>
              <a:ea typeface="a고딕16" panose="02020600000000000000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5151" y="399772"/>
            <a:ext cx="15295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질료</a:t>
            </a:r>
            <a:r>
              <a:rPr lang="en-US" altLang="ko-KR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lang="ko-KR" altLang="en-US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신</a:t>
            </a:r>
            <a:r>
              <a:rPr lang="en-US" altLang="ko-KR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</a:t>
            </a:r>
            <a:endParaRPr lang="ko-KR" altLang="en-US" sz="3200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5151" y="949756"/>
            <a:ext cx="25314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경성뎐</a:t>
            </a:r>
            <a:r>
              <a:rPr lang="en-US" altLang="ko-KR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lang="ko-KR" altLang="en-US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가제</a:t>
            </a:r>
            <a:r>
              <a:rPr lang="en-US" altLang="ko-KR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</a:t>
            </a:r>
            <a:endParaRPr lang="ko-KR" altLang="en-US" sz="1600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196734-9F02-4DF8-95FD-84381235C73B}"/>
              </a:ext>
            </a:extLst>
          </p:cNvPr>
          <p:cNvSpPr txBox="1"/>
          <p:nvPr/>
        </p:nvSpPr>
        <p:spPr>
          <a:xfrm>
            <a:off x="5580830" y="5349974"/>
            <a:ext cx="1751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청의동자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269FFFC-A9D0-45A0-84F5-19A365F9F5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6784" y="1956916"/>
            <a:ext cx="4838431" cy="3080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649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-30479" y="376146"/>
            <a:ext cx="3427071" cy="100440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558" y="141256"/>
            <a:ext cx="69442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600" dirty="0">
                <a:solidFill>
                  <a:schemeClr val="bg1"/>
                </a:solidFill>
                <a:latin typeface="Chiller" panose="04020404031007020602" pitchFamily="82" charset="0"/>
                <a:ea typeface="a고딕16" panose="02020600000000000000" pitchFamily="18" charset="-127"/>
              </a:rPr>
              <a:t>2</a:t>
            </a:r>
            <a:endParaRPr lang="ko-KR" altLang="en-US" sz="9600" dirty="0">
              <a:solidFill>
                <a:schemeClr val="bg1"/>
              </a:solidFill>
              <a:latin typeface="Chiller" panose="04020404031007020602" pitchFamily="82" charset="0"/>
              <a:ea typeface="a고딕16" panose="02020600000000000000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5151" y="399772"/>
            <a:ext cx="18902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질료</a:t>
            </a:r>
            <a:r>
              <a:rPr lang="en-US" altLang="ko-KR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lang="ko-KR" altLang="en-US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요괴</a:t>
            </a:r>
            <a:r>
              <a:rPr lang="en-US" altLang="ko-KR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</a:t>
            </a:r>
            <a:endParaRPr lang="ko-KR" altLang="en-US" sz="3200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5151" y="949756"/>
            <a:ext cx="25314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경성뎐</a:t>
            </a:r>
            <a:r>
              <a:rPr lang="en-US" altLang="ko-KR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lang="ko-KR" altLang="en-US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가제</a:t>
            </a:r>
            <a:r>
              <a:rPr lang="en-US" altLang="ko-KR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</a:t>
            </a:r>
            <a:endParaRPr lang="ko-KR" altLang="en-US" sz="1600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196734-9F02-4DF8-95FD-84381235C73B}"/>
              </a:ext>
            </a:extLst>
          </p:cNvPr>
          <p:cNvSpPr txBox="1"/>
          <p:nvPr/>
        </p:nvSpPr>
        <p:spPr>
          <a:xfrm>
            <a:off x="1950095" y="5173757"/>
            <a:ext cx="1751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묵표자</a:t>
            </a:r>
            <a:endParaRPr lang="ko-KR" altLang="en-US" sz="1800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8" name="그림 7" descr="어두운, 밤하늘이(가) 표시된 사진&#10;&#10;자동 생성된 설명">
            <a:extLst>
              <a:ext uri="{FF2B5EF4-FFF2-40B4-BE49-F238E27FC236}">
                <a16:creationId xmlns:a16="http://schemas.microsoft.com/office/drawing/2014/main" id="{A879307A-D074-433E-9F0F-32569826AA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345" y="1641809"/>
            <a:ext cx="5545330" cy="3139510"/>
          </a:xfrm>
          <a:prstGeom prst="rect">
            <a:avLst/>
          </a:prstGeom>
        </p:spPr>
      </p:pic>
      <p:pic>
        <p:nvPicPr>
          <p:cNvPr id="12" name="그림 11" descr="나무, 포유류, 실외, 숲이(가) 표시된 사진&#10;&#10;자동 생성된 설명">
            <a:extLst>
              <a:ext uri="{FF2B5EF4-FFF2-40B4-BE49-F238E27FC236}">
                <a16:creationId xmlns:a16="http://schemas.microsoft.com/office/drawing/2014/main" id="{3EC8CDA2-CA26-42FF-9DCC-46C8AF6D30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997" y="2288020"/>
            <a:ext cx="3707983" cy="24932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F68C1A3-0F88-F24C-3655-2E0C9DE9D3B1}"/>
              </a:ext>
            </a:extLst>
          </p:cNvPr>
          <p:cNvSpPr txBox="1"/>
          <p:nvPr/>
        </p:nvSpPr>
        <p:spPr>
          <a:xfrm>
            <a:off x="7471979" y="5216191"/>
            <a:ext cx="1751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그슨대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665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-30479" y="376146"/>
            <a:ext cx="3427071" cy="100440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558" y="141256"/>
            <a:ext cx="69442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600" dirty="0">
                <a:solidFill>
                  <a:schemeClr val="bg1"/>
                </a:solidFill>
                <a:latin typeface="Chiller" panose="04020404031007020602" pitchFamily="82" charset="0"/>
                <a:ea typeface="a고딕16" panose="02020600000000000000" pitchFamily="18" charset="-127"/>
              </a:rPr>
              <a:t>2</a:t>
            </a:r>
            <a:endParaRPr lang="ko-KR" altLang="en-US" sz="9600" dirty="0">
              <a:solidFill>
                <a:schemeClr val="bg1"/>
              </a:solidFill>
              <a:latin typeface="Chiller" panose="04020404031007020602" pitchFamily="82" charset="0"/>
              <a:ea typeface="a고딕16" panose="02020600000000000000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5151" y="399772"/>
            <a:ext cx="18902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질료</a:t>
            </a:r>
            <a:r>
              <a:rPr lang="en-US" altLang="ko-KR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lang="ko-KR" altLang="en-US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사물</a:t>
            </a:r>
            <a:r>
              <a:rPr lang="en-US" altLang="ko-KR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</a:t>
            </a:r>
            <a:endParaRPr lang="ko-KR" altLang="en-US" sz="3200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5151" y="949756"/>
            <a:ext cx="25314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경성뎐</a:t>
            </a:r>
            <a:r>
              <a:rPr lang="en-US" altLang="ko-KR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lang="ko-KR" altLang="en-US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가제</a:t>
            </a:r>
            <a:r>
              <a:rPr lang="en-US" altLang="ko-KR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</a:t>
            </a:r>
            <a:endParaRPr lang="ko-KR" altLang="en-US" sz="1600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196734-9F02-4DF8-95FD-84381235C73B}"/>
              </a:ext>
            </a:extLst>
          </p:cNvPr>
          <p:cNvSpPr txBox="1"/>
          <p:nvPr/>
        </p:nvSpPr>
        <p:spPr>
          <a:xfrm>
            <a:off x="2369285" y="4954926"/>
            <a:ext cx="1751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카메라</a:t>
            </a:r>
          </a:p>
        </p:txBody>
      </p:sp>
      <p:pic>
        <p:nvPicPr>
          <p:cNvPr id="4" name="그림 3" descr="실내, 벽, 카메라, 프로젝터이(가) 표시된 사진&#10;&#10;자동 생성된 설명">
            <a:extLst>
              <a:ext uri="{FF2B5EF4-FFF2-40B4-BE49-F238E27FC236}">
                <a16:creationId xmlns:a16="http://schemas.microsoft.com/office/drawing/2014/main" id="{FE918EE7-969F-4B5F-9CEE-91B07355F60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436" y="2229597"/>
            <a:ext cx="3715270" cy="2475543"/>
          </a:xfrm>
          <a:prstGeom prst="rect">
            <a:avLst/>
          </a:prstGeom>
        </p:spPr>
      </p:pic>
      <p:pic>
        <p:nvPicPr>
          <p:cNvPr id="8" name="그림 7" descr="스포츠, 실내, 무용수, 사람이(가) 표시된 사진&#10;&#10;자동 생성된 설명">
            <a:extLst>
              <a:ext uri="{FF2B5EF4-FFF2-40B4-BE49-F238E27FC236}">
                <a16:creationId xmlns:a16="http://schemas.microsoft.com/office/drawing/2014/main" id="{07729585-933B-47F3-86B4-D86FC2FAF8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4061" y="2229597"/>
            <a:ext cx="3333750" cy="25146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91D3EDC-011D-4CEB-B813-B55D33127CFE}"/>
              </a:ext>
            </a:extLst>
          </p:cNvPr>
          <p:cNvSpPr txBox="1"/>
          <p:nvPr/>
        </p:nvSpPr>
        <p:spPr>
          <a:xfrm>
            <a:off x="7596197" y="4954926"/>
            <a:ext cx="95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파란 옷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60E966-0DDA-4F97-B9D2-C69E5B4E3BE1}"/>
              </a:ext>
            </a:extLst>
          </p:cNvPr>
          <p:cNvSpPr txBox="1"/>
          <p:nvPr/>
        </p:nvSpPr>
        <p:spPr>
          <a:xfrm>
            <a:off x="8560936" y="4954926"/>
            <a:ext cx="1375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오징어가면</a:t>
            </a:r>
          </a:p>
        </p:txBody>
      </p:sp>
    </p:spTree>
    <p:extLst>
      <p:ext uri="{BB962C8B-B14F-4D97-AF65-F5344CB8AC3E}">
        <p14:creationId xmlns:p14="http://schemas.microsoft.com/office/powerpoint/2010/main" val="760598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-30479" y="376146"/>
            <a:ext cx="3427071" cy="100440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558" y="141256"/>
            <a:ext cx="73289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600" dirty="0">
                <a:solidFill>
                  <a:schemeClr val="bg1"/>
                </a:solidFill>
                <a:latin typeface="Chiller" panose="04020404031007020602" pitchFamily="82" charset="0"/>
                <a:ea typeface="a고딕16" panose="02020600000000000000" pitchFamily="18" charset="-127"/>
              </a:rPr>
              <a:t>4</a:t>
            </a:r>
            <a:endParaRPr lang="ko-KR" altLang="en-US" sz="9600" dirty="0">
              <a:solidFill>
                <a:schemeClr val="bg1"/>
              </a:solidFill>
              <a:latin typeface="Chiller" panose="04020404031007020602" pitchFamily="82" charset="0"/>
              <a:ea typeface="a고딕16" panose="02020600000000000000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5151" y="399772"/>
            <a:ext cx="19880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고딕16" panose="02020600000000000000" pitchFamily="18" charset="-127"/>
                <a:ea typeface="a고딕16" panose="02020600000000000000" pitchFamily="18" charset="-127"/>
                <a:cs typeface="+mn-cs"/>
              </a:rPr>
              <a:t>캐릭터소개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151" y="949756"/>
            <a:ext cx="25314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고딕16" panose="02020600000000000000" pitchFamily="18" charset="-127"/>
                <a:ea typeface="a고딕16" panose="02020600000000000000" pitchFamily="18" charset="-127"/>
                <a:cs typeface="+mn-cs"/>
              </a:rPr>
              <a:t>경성뎐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고딕16" panose="02020600000000000000" pitchFamily="18" charset="-127"/>
                <a:ea typeface="a고딕16" panose="02020600000000000000" pitchFamily="18" charset="-127"/>
                <a:cs typeface="+mn-cs"/>
              </a:rPr>
              <a:t>(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고딕16" panose="02020600000000000000" pitchFamily="18" charset="-127"/>
                <a:ea typeface="a고딕16" panose="02020600000000000000" pitchFamily="18" charset="-127"/>
                <a:cs typeface="+mn-cs"/>
              </a:rPr>
              <a:t>가제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고딕16" panose="02020600000000000000" pitchFamily="18" charset="-127"/>
                <a:ea typeface="a고딕16" panose="02020600000000000000" pitchFamily="18" charset="-127"/>
                <a:cs typeface="+mn-cs"/>
              </a:rPr>
              <a:t>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  <a:cs typeface="+mn-cs"/>
            </a:endParaRPr>
          </a:p>
        </p:txBody>
      </p:sp>
      <p:pic>
        <p:nvPicPr>
          <p:cNvPr id="3" name="그림 2" descr="텍스트, 신문이(가) 표시된 사진&#10;&#10;자동 생성된 설명">
            <a:extLst>
              <a:ext uri="{FF2B5EF4-FFF2-40B4-BE49-F238E27FC236}">
                <a16:creationId xmlns:a16="http://schemas.microsoft.com/office/drawing/2014/main" id="{4C33F5E6-E982-F369-A84B-BDC07131B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151" y="2077614"/>
            <a:ext cx="2857500" cy="29908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488854-AA8D-7A70-8250-AECA48263BDD}"/>
              </a:ext>
            </a:extLst>
          </p:cNvPr>
          <p:cNvSpPr txBox="1"/>
          <p:nvPr/>
        </p:nvSpPr>
        <p:spPr>
          <a:xfrm>
            <a:off x="4493172" y="2238703"/>
            <a:ext cx="68336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일제강점기 </a:t>
            </a:r>
            <a:r>
              <a:rPr lang="en-US" altLang="ko-KR" b="0" i="0" u="none" strike="noStrike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1920 ~ 30</a:t>
            </a:r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년대 당시 가평에서 창궐했던 사이비 종교로</a:t>
            </a:r>
            <a:endParaRPr lang="en-US" altLang="ko-KR" b="0" i="0" u="none" strike="noStrike" dirty="0">
              <a:solidFill>
                <a:schemeClr val="bg1"/>
              </a:solidFill>
              <a:effectLst/>
              <a:latin typeface="a고딕16" panose="02020600000000000000" pitchFamily="18" charset="-127"/>
              <a:ea typeface="a고딕16" panose="02020600000000000000" pitchFamily="18" charset="-127"/>
            </a:endParaRPr>
          </a:p>
          <a:p>
            <a:r>
              <a:rPr lang="ko-KR" altLang="en-US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종말의 날에 서양은 불</a:t>
            </a:r>
            <a:r>
              <a:rPr lang="en-US" altLang="ko-KR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동양은 물의 심판을 받아 인류가 멸망한다는 종말론을 내세워 신도들에게 과도한 헌금을 요구하고</a:t>
            </a:r>
            <a:r>
              <a:rPr lang="en-US" altLang="ko-KR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젊은 여성들을 시녀로 바치게 하였던 사이비 종교</a:t>
            </a:r>
            <a:r>
              <a:rPr lang="en-US" altLang="ko-KR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. 1937</a:t>
            </a:r>
            <a:r>
              <a:rPr lang="ko-KR" altLang="en-US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년 일본제국 경찰은 </a:t>
            </a:r>
            <a:r>
              <a:rPr lang="en-US" altLang="ko-KR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8</a:t>
            </a:r>
            <a:r>
              <a:rPr lang="ko-KR" altLang="en-US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개월에 걸쳐 전용해의 아지트와 전국 각처의 </a:t>
            </a:r>
            <a:r>
              <a:rPr lang="ko-KR" altLang="en-US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백백교</a:t>
            </a:r>
            <a:r>
              <a:rPr lang="ko-KR" altLang="en-US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 비밀장소에서 시체 </a:t>
            </a:r>
            <a:r>
              <a:rPr lang="en-US" altLang="ko-KR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346</a:t>
            </a:r>
            <a:r>
              <a:rPr lang="ko-KR" altLang="en-US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구를 발굴하였고</a:t>
            </a:r>
            <a:r>
              <a:rPr lang="en-US" altLang="ko-KR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간부급 살인마들에겐 사형이</a:t>
            </a:r>
            <a:r>
              <a:rPr lang="en-US" altLang="ko-KR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나머지 십수명에겐 징역형이 선고되며 교단은 해체된다</a:t>
            </a:r>
            <a:r>
              <a:rPr lang="en-US" altLang="ko-KR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.</a:t>
            </a:r>
            <a:endParaRPr lang="ko-KR" altLang="en-US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7566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-30479" y="376146"/>
            <a:ext cx="3427071" cy="100440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558" y="141256"/>
            <a:ext cx="73289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600" dirty="0">
                <a:solidFill>
                  <a:schemeClr val="bg1"/>
                </a:solidFill>
                <a:latin typeface="Chiller" panose="04020404031007020602" pitchFamily="82" charset="0"/>
                <a:ea typeface="a고딕16" panose="02020600000000000000" pitchFamily="18" charset="-127"/>
              </a:rPr>
              <a:t>4</a:t>
            </a:r>
            <a:endParaRPr lang="ko-KR" altLang="en-US" sz="9600" dirty="0">
              <a:solidFill>
                <a:schemeClr val="bg1"/>
              </a:solidFill>
              <a:latin typeface="Chiller" panose="04020404031007020602" pitchFamily="82" charset="0"/>
              <a:ea typeface="a고딕16" panose="02020600000000000000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5151" y="399772"/>
            <a:ext cx="19880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캐릭터소개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151" y="949756"/>
            <a:ext cx="25314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경성뎐</a:t>
            </a:r>
            <a:r>
              <a:rPr lang="en-US" altLang="ko-KR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lang="ko-KR" altLang="en-US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가제</a:t>
            </a:r>
            <a:r>
              <a:rPr lang="en-US" altLang="ko-KR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</a:t>
            </a:r>
            <a:endParaRPr lang="ko-KR" altLang="en-US" sz="1600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196734-9F02-4DF8-95FD-84381235C73B}"/>
              </a:ext>
            </a:extLst>
          </p:cNvPr>
          <p:cNvSpPr txBox="1"/>
          <p:nvPr/>
        </p:nvSpPr>
        <p:spPr>
          <a:xfrm>
            <a:off x="1762215" y="5765523"/>
            <a:ext cx="1751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유웅룡</a:t>
            </a:r>
            <a:endParaRPr lang="ko-KR" altLang="en-US" sz="2000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pic>
        <p:nvPicPr>
          <p:cNvPr id="7" name="그림 6" descr="남자, 사람, 서있는, 정장이(가) 표시된 사진&#10;&#10;자동 생성된 설명">
            <a:extLst>
              <a:ext uri="{FF2B5EF4-FFF2-40B4-BE49-F238E27FC236}">
                <a16:creationId xmlns:a16="http://schemas.microsoft.com/office/drawing/2014/main" id="{5CA513DD-6F61-469B-9F06-F15D96D910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58" y="1734542"/>
            <a:ext cx="3746033" cy="3746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928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-30479" y="376146"/>
            <a:ext cx="3427071" cy="100440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558" y="141256"/>
            <a:ext cx="73289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600" dirty="0">
                <a:solidFill>
                  <a:schemeClr val="bg1"/>
                </a:solidFill>
                <a:latin typeface="Chiller" panose="04020404031007020602" pitchFamily="82" charset="0"/>
                <a:ea typeface="a고딕16" panose="02020600000000000000" pitchFamily="18" charset="-127"/>
              </a:rPr>
              <a:t>4</a:t>
            </a:r>
            <a:endParaRPr lang="ko-KR" altLang="en-US" sz="9600" dirty="0">
              <a:solidFill>
                <a:schemeClr val="bg1"/>
              </a:solidFill>
              <a:latin typeface="Chiller" panose="04020404031007020602" pitchFamily="82" charset="0"/>
              <a:ea typeface="a고딕16" panose="02020600000000000000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5151" y="399772"/>
            <a:ext cx="19880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캐릭터소개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151" y="949756"/>
            <a:ext cx="25314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경성뎐</a:t>
            </a:r>
            <a:r>
              <a:rPr lang="en-US" altLang="ko-KR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lang="ko-KR" altLang="en-US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가제</a:t>
            </a:r>
            <a:r>
              <a:rPr lang="en-US" altLang="ko-KR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</a:t>
            </a:r>
            <a:endParaRPr lang="ko-KR" altLang="en-US" sz="1600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196734-9F02-4DF8-95FD-84381235C73B}"/>
              </a:ext>
            </a:extLst>
          </p:cNvPr>
          <p:cNvSpPr txBox="1"/>
          <p:nvPr/>
        </p:nvSpPr>
        <p:spPr>
          <a:xfrm>
            <a:off x="1762215" y="5765523"/>
            <a:ext cx="1751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유웅룡</a:t>
            </a:r>
            <a:endParaRPr lang="ko-KR" altLang="en-US" sz="2000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pic>
        <p:nvPicPr>
          <p:cNvPr id="7" name="그림 6" descr="남자, 사람, 서있는, 정장이(가) 표시된 사진&#10;&#10;자동 생성된 설명">
            <a:extLst>
              <a:ext uri="{FF2B5EF4-FFF2-40B4-BE49-F238E27FC236}">
                <a16:creationId xmlns:a16="http://schemas.microsoft.com/office/drawing/2014/main" id="{5CA513DD-6F61-469B-9F06-F15D96D910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58" y="1734542"/>
            <a:ext cx="3746033" cy="3746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648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-30479" y="376146"/>
            <a:ext cx="3427071" cy="100440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558" y="141256"/>
            <a:ext cx="73289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600" dirty="0">
                <a:solidFill>
                  <a:schemeClr val="bg1"/>
                </a:solidFill>
                <a:latin typeface="Chiller" panose="04020404031007020602" pitchFamily="82" charset="0"/>
                <a:ea typeface="a고딕16" panose="02020600000000000000" pitchFamily="18" charset="-127"/>
              </a:rPr>
              <a:t>4</a:t>
            </a:r>
            <a:endParaRPr lang="ko-KR" altLang="en-US" sz="9600" dirty="0">
              <a:solidFill>
                <a:schemeClr val="bg1"/>
              </a:solidFill>
              <a:latin typeface="Chiller" panose="04020404031007020602" pitchFamily="82" charset="0"/>
              <a:ea typeface="a고딕16" panose="02020600000000000000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5151" y="399772"/>
            <a:ext cx="19880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캐릭터소개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151" y="949756"/>
            <a:ext cx="25314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경성뎐</a:t>
            </a:r>
            <a:r>
              <a:rPr lang="en-US" altLang="ko-KR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lang="ko-KR" altLang="en-US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가제</a:t>
            </a:r>
            <a:r>
              <a:rPr lang="en-US" altLang="ko-KR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</a:t>
            </a:r>
            <a:endParaRPr lang="ko-KR" altLang="en-US" sz="1600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pic>
        <p:nvPicPr>
          <p:cNvPr id="5" name="그림 4" descr="텍스트, 오래된, 남자, 착용이(가) 표시된 사진&#10;&#10;자동 생성된 설명">
            <a:extLst>
              <a:ext uri="{FF2B5EF4-FFF2-40B4-BE49-F238E27FC236}">
                <a16:creationId xmlns:a16="http://schemas.microsoft.com/office/drawing/2014/main" id="{5F87BF0E-E0FA-9C1A-F8D9-C081F4DF42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80" y="1838294"/>
            <a:ext cx="1943100" cy="30670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FAB28CB-F83B-8A23-45FC-B21BFD3F84F7}"/>
              </a:ext>
            </a:extLst>
          </p:cNvPr>
          <p:cNvSpPr txBox="1"/>
          <p:nvPr/>
        </p:nvSpPr>
        <p:spPr>
          <a:xfrm>
            <a:off x="1449319" y="5508134"/>
            <a:ext cx="1751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유곤룡</a:t>
            </a:r>
            <a:endParaRPr lang="ko-KR" altLang="en-US" sz="2000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23CCBA-8FFD-8BE1-66C6-49D6E7B277BD}"/>
              </a:ext>
            </a:extLst>
          </p:cNvPr>
          <p:cNvSpPr txBox="1"/>
          <p:nvPr/>
        </p:nvSpPr>
        <p:spPr>
          <a:xfrm>
            <a:off x="4761186" y="2648607"/>
            <a:ext cx="69998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0" i="0" dirty="0" err="1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유곤용은</a:t>
            </a:r>
            <a:r>
              <a:rPr lang="ko-KR" altLang="en-US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 해주에서 가장 큰 한약국 ‘</a:t>
            </a:r>
            <a:r>
              <a:rPr lang="ko-KR" altLang="en-US" b="0" i="0" dirty="0" err="1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구명당</a:t>
            </a:r>
            <a:r>
              <a:rPr lang="en-US" altLang="ko-KR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lang="ko-KR" altLang="en-US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求命堂</a:t>
            </a:r>
            <a:r>
              <a:rPr lang="en-US" altLang="ko-KR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)’</a:t>
            </a:r>
            <a:r>
              <a:rPr lang="ko-KR" altLang="en-US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의 주인이었다</a:t>
            </a:r>
            <a:r>
              <a:rPr lang="en-US" altLang="ko-KR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.</a:t>
            </a:r>
          </a:p>
          <a:p>
            <a:r>
              <a:rPr lang="ko-KR" altLang="en-US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자수성가한 입지전적 인물이었으나</a:t>
            </a:r>
            <a:r>
              <a:rPr lang="en-US" altLang="ko-KR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조부와 부친이 사이비 종교 </a:t>
            </a:r>
            <a:r>
              <a:rPr lang="en-US" altLang="ko-KR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“</a:t>
            </a:r>
            <a:r>
              <a:rPr lang="ko-KR" altLang="en-US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백백교</a:t>
            </a:r>
            <a:r>
              <a:rPr lang="en-US" altLang="ko-KR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”</a:t>
            </a:r>
            <a:r>
              <a:rPr lang="ko-KR" altLang="en-US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에 빠져 여동생을 교주에게 첩으로 바치고 전재상을 빼앗긴 인물이다</a:t>
            </a:r>
            <a:r>
              <a:rPr lang="en-US" altLang="ko-KR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. </a:t>
            </a:r>
            <a:r>
              <a:rPr lang="ko-KR" altLang="en-US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교주 면담을 빙자해서 백백교의 악행을 욕하다가</a:t>
            </a:r>
            <a:r>
              <a:rPr lang="en-US" altLang="ko-KR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흥분한 전용해와 간부들과 싸우다 경찰에 이를 </a:t>
            </a:r>
            <a:r>
              <a:rPr lang="ko-KR" altLang="en-US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신고함으로서</a:t>
            </a:r>
            <a:r>
              <a:rPr lang="ko-KR" altLang="en-US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 흑막이 폭로되었다</a:t>
            </a:r>
            <a:r>
              <a:rPr lang="en-US" altLang="ko-KR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. </a:t>
            </a:r>
            <a:endParaRPr lang="ko-KR" altLang="en-US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C321D4-3063-56AD-53D5-9792F3CC00CB}"/>
              </a:ext>
            </a:extLst>
          </p:cNvPr>
          <p:cNvSpPr txBox="1"/>
          <p:nvPr/>
        </p:nvSpPr>
        <p:spPr>
          <a:xfrm>
            <a:off x="6217681" y="718923"/>
            <a:ext cx="1751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모티브</a:t>
            </a:r>
          </a:p>
        </p:txBody>
      </p:sp>
    </p:spTree>
    <p:extLst>
      <p:ext uri="{BB962C8B-B14F-4D97-AF65-F5344CB8AC3E}">
        <p14:creationId xmlns:p14="http://schemas.microsoft.com/office/powerpoint/2010/main" val="2997155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-30479" y="376146"/>
            <a:ext cx="3427071" cy="100440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558" y="141256"/>
            <a:ext cx="73289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600" dirty="0">
                <a:solidFill>
                  <a:schemeClr val="bg1"/>
                </a:solidFill>
                <a:latin typeface="Chiller" panose="04020404031007020602" pitchFamily="82" charset="0"/>
                <a:ea typeface="a고딕16" panose="02020600000000000000" pitchFamily="18" charset="-127"/>
              </a:rPr>
              <a:t>4</a:t>
            </a:r>
            <a:endParaRPr lang="ko-KR" altLang="en-US" sz="9600" dirty="0">
              <a:solidFill>
                <a:schemeClr val="bg1"/>
              </a:solidFill>
              <a:latin typeface="Chiller" panose="04020404031007020602" pitchFamily="82" charset="0"/>
              <a:ea typeface="a고딕16" panose="02020600000000000000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5151" y="399772"/>
            <a:ext cx="19880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캐릭터소개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151" y="949756"/>
            <a:ext cx="25314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경성뎐</a:t>
            </a:r>
            <a:r>
              <a:rPr lang="en-US" altLang="ko-KR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lang="ko-KR" altLang="en-US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가제</a:t>
            </a:r>
            <a:r>
              <a:rPr lang="en-US" altLang="ko-KR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</a:t>
            </a:r>
            <a:endParaRPr lang="ko-KR" altLang="en-US" sz="1600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196734-9F02-4DF8-95FD-84381235C73B}"/>
              </a:ext>
            </a:extLst>
          </p:cNvPr>
          <p:cNvSpPr txBox="1"/>
          <p:nvPr/>
        </p:nvSpPr>
        <p:spPr>
          <a:xfrm>
            <a:off x="639768" y="5773968"/>
            <a:ext cx="37018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김송순</a:t>
            </a:r>
            <a:r>
              <a:rPr lang="en-US" altLang="ko-KR" sz="20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lang="ko-KR" altLang="en-US" sz="2000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마리꼬</a:t>
            </a:r>
            <a:r>
              <a:rPr lang="en-US" altLang="ko-KR" sz="20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),</a:t>
            </a:r>
            <a:r>
              <a:rPr lang="ko-KR" altLang="en-US" sz="20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 </a:t>
            </a:r>
            <a:r>
              <a:rPr lang="ko-KR" altLang="en-US" sz="2000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김송금</a:t>
            </a:r>
            <a:r>
              <a:rPr lang="en-US" altLang="ko-KR" sz="20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lang="ko-KR" altLang="en-US" sz="2000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미네꼬</a:t>
            </a:r>
            <a:r>
              <a:rPr lang="en-US" altLang="ko-KR" sz="20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</a:t>
            </a:r>
            <a:endParaRPr lang="ko-KR" altLang="en-US" sz="2000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  <a:p>
            <a:endParaRPr lang="ko-KR" altLang="en-US" sz="2000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E543876-6BDD-C26A-8AD3-E13641D8B385}"/>
              </a:ext>
            </a:extLst>
          </p:cNvPr>
          <p:cNvGrpSpPr/>
          <p:nvPr/>
        </p:nvGrpSpPr>
        <p:grpSpPr>
          <a:xfrm>
            <a:off x="-631887" y="1734542"/>
            <a:ext cx="5195472" cy="3854596"/>
            <a:chOff x="-631887" y="1734542"/>
            <a:chExt cx="5195472" cy="3854596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8E8D1A2-3DBA-70CE-7F22-77C5DAB009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31887" y="1734542"/>
              <a:ext cx="3854596" cy="3854596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1502D3DD-6929-C6F6-2B44-FE90368391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08989" y="1734542"/>
              <a:ext cx="3854596" cy="38545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797603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-30479" y="376146"/>
            <a:ext cx="3427071" cy="100440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558" y="141256"/>
            <a:ext cx="73289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600" dirty="0">
                <a:solidFill>
                  <a:schemeClr val="bg1"/>
                </a:solidFill>
                <a:latin typeface="Chiller" panose="04020404031007020602" pitchFamily="82" charset="0"/>
                <a:ea typeface="a고딕16" panose="02020600000000000000" pitchFamily="18" charset="-127"/>
              </a:rPr>
              <a:t>4</a:t>
            </a:r>
            <a:endParaRPr lang="ko-KR" altLang="en-US" sz="9600" dirty="0">
              <a:solidFill>
                <a:schemeClr val="bg1"/>
              </a:solidFill>
              <a:latin typeface="Chiller" panose="04020404031007020602" pitchFamily="82" charset="0"/>
              <a:ea typeface="a고딕16" panose="02020600000000000000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5151" y="399772"/>
            <a:ext cx="19880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캐릭터소개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151" y="949756"/>
            <a:ext cx="25314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경성뎐</a:t>
            </a:r>
            <a:r>
              <a:rPr lang="en-US" altLang="ko-KR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lang="ko-KR" altLang="en-US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가제</a:t>
            </a:r>
            <a:r>
              <a:rPr lang="en-US" altLang="ko-KR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</a:t>
            </a:r>
            <a:endParaRPr lang="ko-KR" altLang="en-US" sz="1600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BBBFDA-2404-AA6F-A257-BC8DEC898EFD}"/>
              </a:ext>
            </a:extLst>
          </p:cNvPr>
          <p:cNvSpPr txBox="1"/>
          <p:nvPr/>
        </p:nvSpPr>
        <p:spPr>
          <a:xfrm>
            <a:off x="1169669" y="5773968"/>
            <a:ext cx="20530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김송순</a:t>
            </a:r>
            <a:r>
              <a:rPr lang="en-US" altLang="ko-KR" sz="20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,</a:t>
            </a:r>
            <a:r>
              <a:rPr lang="ko-KR" altLang="en-US" sz="20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 </a:t>
            </a:r>
            <a:r>
              <a:rPr lang="ko-KR" altLang="en-US" sz="2000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김송금</a:t>
            </a:r>
            <a:endParaRPr lang="ko-KR" altLang="en-US" sz="2000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  <a:p>
            <a:endParaRPr lang="ko-KR" altLang="en-US" sz="2000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5C219D8-60B5-72DA-B2EF-CC18413EA824}"/>
              </a:ext>
            </a:extLst>
          </p:cNvPr>
          <p:cNvGrpSpPr/>
          <p:nvPr/>
        </p:nvGrpSpPr>
        <p:grpSpPr>
          <a:xfrm>
            <a:off x="-631887" y="1734542"/>
            <a:ext cx="5195472" cy="3854596"/>
            <a:chOff x="-631887" y="1734542"/>
            <a:chExt cx="5195472" cy="3854596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238C04FE-3944-6D03-58A2-91387DC78D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31887" y="1734542"/>
              <a:ext cx="3854596" cy="3854596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C9B000EA-72A5-8922-9315-1197C5881A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08989" y="1734542"/>
              <a:ext cx="3854596" cy="38545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881220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-30479" y="376146"/>
            <a:ext cx="3427071" cy="100440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558" y="141256"/>
            <a:ext cx="73289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600" dirty="0">
                <a:solidFill>
                  <a:schemeClr val="bg1"/>
                </a:solidFill>
                <a:latin typeface="Chiller" panose="04020404031007020602" pitchFamily="82" charset="0"/>
                <a:ea typeface="a고딕16" panose="02020600000000000000" pitchFamily="18" charset="-127"/>
              </a:rPr>
              <a:t>4</a:t>
            </a:r>
            <a:endParaRPr lang="ko-KR" altLang="en-US" sz="9600" dirty="0">
              <a:solidFill>
                <a:schemeClr val="bg1"/>
              </a:solidFill>
              <a:latin typeface="Chiller" panose="04020404031007020602" pitchFamily="82" charset="0"/>
              <a:ea typeface="a고딕16" panose="02020600000000000000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5151" y="399772"/>
            <a:ext cx="19880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고딕16" panose="02020600000000000000" pitchFamily="18" charset="-127"/>
                <a:ea typeface="a고딕16" panose="02020600000000000000" pitchFamily="18" charset="-127"/>
                <a:cs typeface="+mn-cs"/>
              </a:rPr>
              <a:t>캐릭터소개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151" y="949756"/>
            <a:ext cx="25314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고딕16" panose="02020600000000000000" pitchFamily="18" charset="-127"/>
                <a:ea typeface="a고딕16" panose="02020600000000000000" pitchFamily="18" charset="-127"/>
                <a:cs typeface="+mn-cs"/>
              </a:rPr>
              <a:t>경성뎐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고딕16" panose="02020600000000000000" pitchFamily="18" charset="-127"/>
                <a:ea typeface="a고딕16" panose="02020600000000000000" pitchFamily="18" charset="-127"/>
                <a:cs typeface="+mn-cs"/>
              </a:rPr>
              <a:t>(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고딕16" panose="02020600000000000000" pitchFamily="18" charset="-127"/>
                <a:ea typeface="a고딕16" panose="02020600000000000000" pitchFamily="18" charset="-127"/>
                <a:cs typeface="+mn-cs"/>
              </a:rPr>
              <a:t>가제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고딕16" panose="02020600000000000000" pitchFamily="18" charset="-127"/>
                <a:ea typeface="a고딕16" panose="02020600000000000000" pitchFamily="18" charset="-127"/>
                <a:cs typeface="+mn-cs"/>
              </a:rPr>
              <a:t>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  <a:cs typeface="+mn-cs"/>
            </a:endParaRPr>
          </a:p>
        </p:txBody>
      </p:sp>
      <p:pic>
        <p:nvPicPr>
          <p:cNvPr id="4" name="그림 3" descr="텍스트, 선화이(가) 표시된 사진&#10;&#10;자동 생성된 설명">
            <a:extLst>
              <a:ext uri="{FF2B5EF4-FFF2-40B4-BE49-F238E27FC236}">
                <a16:creationId xmlns:a16="http://schemas.microsoft.com/office/drawing/2014/main" id="{D5BADEB8-10B9-E667-4A32-F13D6EA430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58" y="2180696"/>
            <a:ext cx="3210389" cy="32103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8E44B9-0385-AC05-9BA6-461847A6E489}"/>
              </a:ext>
            </a:extLst>
          </p:cNvPr>
          <p:cNvSpPr txBox="1"/>
          <p:nvPr/>
        </p:nvSpPr>
        <p:spPr>
          <a:xfrm>
            <a:off x="986979" y="5754414"/>
            <a:ext cx="3837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김명순</a:t>
            </a:r>
            <a:r>
              <a:rPr lang="en-US" altLang="ko-KR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lang="ko-KR" altLang="en-US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마리꼬</a:t>
            </a:r>
            <a:r>
              <a:rPr lang="en-US" altLang="ko-KR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</a:t>
            </a:r>
            <a:endParaRPr lang="ko-KR" altLang="en-US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E4577F-980B-B35F-5865-BDD75BD83B9F}"/>
              </a:ext>
            </a:extLst>
          </p:cNvPr>
          <p:cNvSpPr txBox="1"/>
          <p:nvPr/>
        </p:nvSpPr>
        <p:spPr>
          <a:xfrm>
            <a:off x="4445876" y="2770227"/>
            <a:ext cx="707871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b="0" i="0" dirty="0" err="1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마리꼬라고</a:t>
            </a:r>
            <a:r>
              <a:rPr lang="ko-KR" altLang="en-US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 불리기도 한 김명순</a:t>
            </a:r>
            <a:r>
              <a:rPr lang="en-US" altLang="ko-KR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lang="ko-KR" altLang="en-US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金明淳</a:t>
            </a:r>
            <a:r>
              <a:rPr lang="en-US" altLang="ko-KR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)</a:t>
            </a:r>
            <a:r>
              <a:rPr lang="ko-KR" altLang="en-US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은 </a:t>
            </a:r>
            <a:r>
              <a:rPr lang="en-US" altLang="ko-KR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1907</a:t>
            </a:r>
            <a:r>
              <a:rPr lang="ko-KR" altLang="en-US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년생으로 </a:t>
            </a:r>
            <a:r>
              <a:rPr lang="en-US" altLang="ko-KR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1932</a:t>
            </a:r>
            <a:r>
              <a:rPr lang="ko-KR" altLang="en-US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년에는 ‘</a:t>
            </a:r>
            <a:r>
              <a:rPr lang="ko-KR" altLang="en-US" b="0" i="0" dirty="0" err="1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낙원’카페의</a:t>
            </a:r>
            <a:r>
              <a:rPr lang="ko-KR" altLang="en-US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 여급으로 근무하였다</a:t>
            </a:r>
            <a:r>
              <a:rPr lang="en-US" altLang="ko-KR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. ‘</a:t>
            </a:r>
            <a:r>
              <a:rPr lang="ko-KR" altLang="en-US" b="0" i="0" dirty="0" err="1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말괄량이’라는</a:t>
            </a:r>
            <a:r>
              <a:rPr lang="ko-KR" altLang="en-US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 별명을 가지고 있었으며</a:t>
            </a:r>
            <a:r>
              <a:rPr lang="en-US" altLang="ko-KR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, </a:t>
            </a:r>
            <a:r>
              <a:rPr lang="ko-KR" altLang="en-US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키가 크고</a:t>
            </a:r>
            <a:r>
              <a:rPr lang="en-US" altLang="ko-KR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, </a:t>
            </a:r>
            <a:r>
              <a:rPr lang="ko-KR" altLang="en-US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마른 체구를 지녔고 한복보다는 양장이 어울린다는 평을 받았다</a:t>
            </a:r>
            <a:r>
              <a:rPr lang="en-US" altLang="ko-KR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. </a:t>
            </a:r>
            <a:r>
              <a:rPr lang="ko-KR" altLang="en-US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성격은 톡톡 쏘고 깍쟁이 같다는 평을 받았다</a:t>
            </a:r>
            <a:r>
              <a:rPr lang="en-US" altLang="ko-KR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. </a:t>
            </a:r>
            <a:r>
              <a:rPr lang="ko-KR" altLang="en-US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한 때 영화배우였던 이력을 가지고 있다</a:t>
            </a:r>
            <a:r>
              <a:rPr lang="en-US" altLang="ko-KR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.</a:t>
            </a:r>
          </a:p>
          <a:p>
            <a:pPr algn="ctr"/>
            <a:br>
              <a:rPr lang="ko-KR" altLang="en-US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</a:br>
            <a:endParaRPr lang="ko-KR" altLang="en-US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4D9E0A-1EC5-8CA2-A0AC-C5260DB5D4EA}"/>
              </a:ext>
            </a:extLst>
          </p:cNvPr>
          <p:cNvSpPr txBox="1"/>
          <p:nvPr/>
        </p:nvSpPr>
        <p:spPr>
          <a:xfrm>
            <a:off x="6217681" y="718923"/>
            <a:ext cx="1751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모티브</a:t>
            </a:r>
          </a:p>
        </p:txBody>
      </p:sp>
    </p:spTree>
    <p:extLst>
      <p:ext uri="{BB962C8B-B14F-4D97-AF65-F5344CB8AC3E}">
        <p14:creationId xmlns:p14="http://schemas.microsoft.com/office/powerpoint/2010/main" val="7123713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-30479" y="376146"/>
            <a:ext cx="3427071" cy="100440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558" y="141256"/>
            <a:ext cx="73289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600" dirty="0">
                <a:solidFill>
                  <a:schemeClr val="bg1"/>
                </a:solidFill>
                <a:latin typeface="Chiller" panose="04020404031007020602" pitchFamily="82" charset="0"/>
                <a:ea typeface="a고딕16" panose="02020600000000000000" pitchFamily="18" charset="-127"/>
              </a:rPr>
              <a:t>4</a:t>
            </a:r>
            <a:endParaRPr lang="ko-KR" altLang="en-US" sz="9600" dirty="0">
              <a:solidFill>
                <a:schemeClr val="bg1"/>
              </a:solidFill>
              <a:latin typeface="Chiller" panose="04020404031007020602" pitchFamily="82" charset="0"/>
              <a:ea typeface="a고딕16" panose="02020600000000000000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5151" y="399772"/>
            <a:ext cx="19880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고딕16" panose="02020600000000000000" pitchFamily="18" charset="-127"/>
                <a:ea typeface="a고딕16" panose="02020600000000000000" pitchFamily="18" charset="-127"/>
                <a:cs typeface="+mn-cs"/>
              </a:rPr>
              <a:t>캐릭터소개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151" y="949756"/>
            <a:ext cx="25314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고딕16" panose="02020600000000000000" pitchFamily="18" charset="-127"/>
                <a:ea typeface="a고딕16" panose="02020600000000000000" pitchFamily="18" charset="-127"/>
                <a:cs typeface="+mn-cs"/>
              </a:rPr>
              <a:t>경성뎐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고딕16" panose="02020600000000000000" pitchFamily="18" charset="-127"/>
                <a:ea typeface="a고딕16" panose="02020600000000000000" pitchFamily="18" charset="-127"/>
                <a:cs typeface="+mn-cs"/>
              </a:rPr>
              <a:t>(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고딕16" panose="02020600000000000000" pitchFamily="18" charset="-127"/>
                <a:ea typeface="a고딕16" panose="02020600000000000000" pitchFamily="18" charset="-127"/>
                <a:cs typeface="+mn-cs"/>
              </a:rPr>
              <a:t>가제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고딕16" panose="02020600000000000000" pitchFamily="18" charset="-127"/>
                <a:ea typeface="a고딕16" panose="02020600000000000000" pitchFamily="18" charset="-127"/>
                <a:cs typeface="+mn-cs"/>
              </a:rPr>
              <a:t>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8E44B9-0385-AC05-9BA6-461847A6E489}"/>
              </a:ext>
            </a:extLst>
          </p:cNvPr>
          <p:cNvSpPr txBox="1"/>
          <p:nvPr/>
        </p:nvSpPr>
        <p:spPr>
          <a:xfrm>
            <a:off x="986979" y="5754414"/>
            <a:ext cx="3837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고딕16" panose="02020600000000000000" pitchFamily="18" charset="-127"/>
                <a:ea typeface="a고딕16" panose="02020600000000000000" pitchFamily="18" charset="-127"/>
                <a:cs typeface="+mn-cs"/>
              </a:rPr>
              <a:t>이덕성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고딕16" panose="02020600000000000000" pitchFamily="18" charset="-127"/>
                <a:ea typeface="a고딕16" panose="02020600000000000000" pitchFamily="18" charset="-127"/>
                <a:cs typeface="+mn-cs"/>
              </a:rPr>
              <a:t>(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고딕16" panose="02020600000000000000" pitchFamily="18" charset="-127"/>
                <a:ea typeface="a고딕16" panose="02020600000000000000" pitchFamily="18" charset="-127"/>
                <a:cs typeface="+mn-cs"/>
              </a:rPr>
              <a:t>미네꼬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고딕16" panose="02020600000000000000" pitchFamily="18" charset="-127"/>
                <a:ea typeface="a고딕16" panose="02020600000000000000" pitchFamily="18" charset="-127"/>
                <a:cs typeface="+mn-cs"/>
              </a:rPr>
              <a:t>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  <a:cs typeface="+mn-cs"/>
            </a:endParaRPr>
          </a:p>
        </p:txBody>
      </p:sp>
      <p:pic>
        <p:nvPicPr>
          <p:cNvPr id="3" name="그림 2" descr="실루엣, 선화이(가) 표시된 사진&#10;&#10;자동 생성된 설명">
            <a:extLst>
              <a:ext uri="{FF2B5EF4-FFF2-40B4-BE49-F238E27FC236}">
                <a16:creationId xmlns:a16="http://schemas.microsoft.com/office/drawing/2014/main" id="{67CE08BC-5432-D9CD-4D0D-1AEB9F463A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837" y="2284526"/>
            <a:ext cx="3141936" cy="31419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00E425-B2A9-8699-8B35-3D5C8E671C13}"/>
              </a:ext>
            </a:extLst>
          </p:cNvPr>
          <p:cNvSpPr txBox="1"/>
          <p:nvPr/>
        </p:nvSpPr>
        <p:spPr>
          <a:xfrm>
            <a:off x="4004441" y="2632841"/>
            <a:ext cx="722060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b="0" i="0" dirty="0" err="1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미네꼬라고</a:t>
            </a:r>
            <a:r>
              <a:rPr lang="ko-KR" altLang="en-US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 불리기도 한 </a:t>
            </a:r>
            <a:r>
              <a:rPr lang="ko-KR" altLang="en-US" b="0" i="0" dirty="0" err="1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이덕성은</a:t>
            </a:r>
            <a:r>
              <a:rPr lang="ko-KR" altLang="en-US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 </a:t>
            </a:r>
            <a:r>
              <a:rPr lang="en-US" altLang="ko-KR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1918</a:t>
            </a:r>
            <a:r>
              <a:rPr lang="ko-KR" altLang="en-US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년 경성에서 태어난 것으로 알려졌다</a:t>
            </a:r>
            <a:r>
              <a:rPr lang="en-US" altLang="ko-KR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. </a:t>
            </a:r>
            <a:r>
              <a:rPr lang="ko-KR" altLang="en-US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기생 출신으로</a:t>
            </a:r>
            <a:r>
              <a:rPr lang="en-US" altLang="ko-KR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, </a:t>
            </a:r>
            <a:r>
              <a:rPr lang="ko-KR" altLang="en-US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기생 때 이름은 금주</a:t>
            </a:r>
            <a:r>
              <a:rPr lang="en-US" altLang="ko-KR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lang="ko-KR" altLang="en-US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錦珠</a:t>
            </a:r>
            <a:r>
              <a:rPr lang="en-US" altLang="ko-KR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)</a:t>
            </a:r>
            <a:r>
              <a:rPr lang="ko-KR" altLang="en-US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이었다</a:t>
            </a:r>
            <a:r>
              <a:rPr lang="en-US" altLang="ko-KR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. </a:t>
            </a:r>
            <a:r>
              <a:rPr lang="ko-KR" altLang="en-US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서울과 인천 각지에서 기생 일을 하다가 경성의 ‘태평양 </a:t>
            </a:r>
            <a:r>
              <a:rPr lang="ko-KR" altLang="en-US" b="0" i="0" dirty="0" err="1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카페’에서</a:t>
            </a:r>
            <a:r>
              <a:rPr lang="ko-KR" altLang="en-US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 여급으로 일하기 시작한 이후 여급의 길을 걷는다</a:t>
            </a:r>
            <a:r>
              <a:rPr lang="en-US" altLang="ko-KR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. 1932</a:t>
            </a:r>
            <a:r>
              <a:rPr lang="ko-KR" altLang="en-US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년 </a:t>
            </a:r>
            <a:r>
              <a:rPr lang="en-US" altLang="ko-KR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4</a:t>
            </a:r>
            <a:r>
              <a:rPr lang="ko-KR" altLang="en-US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월부터는 낙원회관에서 여급으로 근무하였으며</a:t>
            </a:r>
            <a:r>
              <a:rPr lang="en-US" altLang="ko-KR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, </a:t>
            </a:r>
            <a:r>
              <a:rPr lang="ko-KR" altLang="en-US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외모는 파리한 얼굴에 </a:t>
            </a:r>
            <a:r>
              <a:rPr lang="ko-KR" altLang="en-US" b="0" i="0" dirty="0" err="1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오똑하고</a:t>
            </a:r>
            <a:r>
              <a:rPr lang="ko-KR" altLang="en-US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 뾰족한 콧날을 가졌다고 전한다</a:t>
            </a:r>
            <a:r>
              <a:rPr lang="en-US" altLang="ko-KR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.</a:t>
            </a:r>
          </a:p>
          <a:p>
            <a:br>
              <a:rPr lang="ko-KR" altLang="en-US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</a:br>
            <a:endParaRPr lang="ko-KR" altLang="en-US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86C50E-DB84-4EFF-9C4F-96E8EA77451C}"/>
              </a:ext>
            </a:extLst>
          </p:cNvPr>
          <p:cNvSpPr txBox="1"/>
          <p:nvPr/>
        </p:nvSpPr>
        <p:spPr>
          <a:xfrm>
            <a:off x="6217681" y="718923"/>
            <a:ext cx="1751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모티브</a:t>
            </a:r>
          </a:p>
        </p:txBody>
      </p:sp>
    </p:spTree>
    <p:extLst>
      <p:ext uri="{BB962C8B-B14F-4D97-AF65-F5344CB8AC3E}">
        <p14:creationId xmlns:p14="http://schemas.microsoft.com/office/powerpoint/2010/main" val="26818312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-30479" y="376146"/>
            <a:ext cx="3427071" cy="100440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558" y="141256"/>
            <a:ext cx="73289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600" dirty="0">
                <a:solidFill>
                  <a:schemeClr val="bg1"/>
                </a:solidFill>
                <a:latin typeface="Chiller" panose="04020404031007020602" pitchFamily="82" charset="0"/>
                <a:ea typeface="a고딕16" panose="02020600000000000000" pitchFamily="18" charset="-127"/>
              </a:rPr>
              <a:t>4</a:t>
            </a:r>
            <a:endParaRPr lang="ko-KR" altLang="en-US" sz="9600" dirty="0">
              <a:solidFill>
                <a:schemeClr val="bg1"/>
              </a:solidFill>
              <a:latin typeface="Chiller" panose="04020404031007020602" pitchFamily="82" charset="0"/>
              <a:ea typeface="a고딕16" panose="02020600000000000000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5151" y="399772"/>
            <a:ext cx="19880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캐릭터소개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151" y="949756"/>
            <a:ext cx="25314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경성뎐</a:t>
            </a:r>
            <a:r>
              <a:rPr lang="en-US" altLang="ko-KR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lang="ko-KR" altLang="en-US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가제</a:t>
            </a:r>
            <a:r>
              <a:rPr lang="en-US" altLang="ko-KR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</a:t>
            </a:r>
            <a:endParaRPr lang="ko-KR" altLang="en-US" sz="1600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196734-9F02-4DF8-95FD-84381235C73B}"/>
              </a:ext>
            </a:extLst>
          </p:cNvPr>
          <p:cNvSpPr txBox="1"/>
          <p:nvPr/>
        </p:nvSpPr>
        <p:spPr>
          <a:xfrm>
            <a:off x="1615320" y="5726752"/>
            <a:ext cx="1751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이판규</a:t>
            </a:r>
            <a:endParaRPr lang="ko-KR" altLang="en-US" sz="2000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pic>
        <p:nvPicPr>
          <p:cNvPr id="9" name="그림 8" descr="텍스트, 사람, 실외이(가) 표시된 사진&#10;&#10;자동 생성된 설명">
            <a:extLst>
              <a:ext uri="{FF2B5EF4-FFF2-40B4-BE49-F238E27FC236}">
                <a16:creationId xmlns:a16="http://schemas.microsoft.com/office/drawing/2014/main" id="{009E68AB-B5C5-46AF-F849-DC08EF91A5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711" y="1734542"/>
            <a:ext cx="2664319" cy="3746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3217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-30479" y="376146"/>
            <a:ext cx="3427071" cy="100440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558" y="141256"/>
            <a:ext cx="73289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600" dirty="0">
                <a:solidFill>
                  <a:schemeClr val="bg1"/>
                </a:solidFill>
                <a:latin typeface="Chiller" panose="04020404031007020602" pitchFamily="82" charset="0"/>
                <a:ea typeface="a고딕16" panose="02020600000000000000" pitchFamily="18" charset="-127"/>
              </a:rPr>
              <a:t>4</a:t>
            </a:r>
            <a:endParaRPr lang="ko-KR" altLang="en-US" sz="9600" dirty="0">
              <a:solidFill>
                <a:schemeClr val="bg1"/>
              </a:solidFill>
              <a:latin typeface="Chiller" panose="04020404031007020602" pitchFamily="82" charset="0"/>
              <a:ea typeface="a고딕16" panose="02020600000000000000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5151" y="399772"/>
            <a:ext cx="19880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캐릭터소개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151" y="949756"/>
            <a:ext cx="25314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경성뎐</a:t>
            </a:r>
            <a:r>
              <a:rPr lang="en-US" altLang="ko-KR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lang="ko-KR" altLang="en-US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가제</a:t>
            </a:r>
            <a:r>
              <a:rPr lang="en-US" altLang="ko-KR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</a:t>
            </a:r>
            <a:endParaRPr lang="ko-KR" altLang="en-US" sz="1600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11DB7B-0407-B92E-8CD8-C92DE609873E}"/>
              </a:ext>
            </a:extLst>
          </p:cNvPr>
          <p:cNvSpPr txBox="1"/>
          <p:nvPr/>
        </p:nvSpPr>
        <p:spPr>
          <a:xfrm>
            <a:off x="1615320" y="5726752"/>
            <a:ext cx="1751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이판규</a:t>
            </a:r>
            <a:endParaRPr lang="ko-KR" altLang="en-US" sz="2000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pic>
        <p:nvPicPr>
          <p:cNvPr id="10" name="그림 9" descr="텍스트, 사람, 실외이(가) 표시된 사진&#10;&#10;자동 생성된 설명">
            <a:extLst>
              <a:ext uri="{FF2B5EF4-FFF2-40B4-BE49-F238E27FC236}">
                <a16:creationId xmlns:a16="http://schemas.microsoft.com/office/drawing/2014/main" id="{4971CE46-D716-EFAA-8087-C7A21AF08C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711" y="1734542"/>
            <a:ext cx="2664319" cy="3746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2130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-30479" y="376146"/>
            <a:ext cx="3427071" cy="100440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558" y="141256"/>
            <a:ext cx="73289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600" dirty="0">
                <a:solidFill>
                  <a:schemeClr val="bg1"/>
                </a:solidFill>
                <a:latin typeface="Chiller" panose="04020404031007020602" pitchFamily="82" charset="0"/>
                <a:ea typeface="a고딕16" panose="02020600000000000000" pitchFamily="18" charset="-127"/>
              </a:rPr>
              <a:t>4</a:t>
            </a:r>
            <a:endParaRPr lang="ko-KR" altLang="en-US" sz="9600" dirty="0">
              <a:solidFill>
                <a:schemeClr val="bg1"/>
              </a:solidFill>
              <a:latin typeface="Chiller" panose="04020404031007020602" pitchFamily="82" charset="0"/>
              <a:ea typeface="a고딕16" panose="02020600000000000000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5151" y="399772"/>
            <a:ext cx="19880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캐릭터소개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151" y="949756"/>
            <a:ext cx="25314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고딕16" panose="02020600000000000000" pitchFamily="18" charset="-127"/>
                <a:ea typeface="a고딕16" panose="02020600000000000000" pitchFamily="18" charset="-127"/>
                <a:cs typeface="+mn-cs"/>
              </a:rPr>
              <a:t>경성뎐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고딕16" panose="02020600000000000000" pitchFamily="18" charset="-127"/>
                <a:ea typeface="a고딕16" panose="02020600000000000000" pitchFamily="18" charset="-127"/>
                <a:cs typeface="+mn-cs"/>
              </a:rPr>
              <a:t>(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고딕16" panose="02020600000000000000" pitchFamily="18" charset="-127"/>
                <a:ea typeface="a고딕16" panose="02020600000000000000" pitchFamily="18" charset="-127"/>
                <a:cs typeface="+mn-cs"/>
              </a:rPr>
              <a:t>가제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고딕16" panose="02020600000000000000" pitchFamily="18" charset="-127"/>
                <a:ea typeface="a고딕16" panose="02020600000000000000" pitchFamily="18" charset="-127"/>
                <a:cs typeface="+mn-cs"/>
              </a:rPr>
              <a:t>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11DB7B-0407-B92E-8CD8-C92DE609873E}"/>
              </a:ext>
            </a:extLst>
          </p:cNvPr>
          <p:cNvSpPr txBox="1"/>
          <p:nvPr/>
        </p:nvSpPr>
        <p:spPr>
          <a:xfrm>
            <a:off x="986979" y="5708189"/>
            <a:ext cx="2704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고딕16" panose="02020600000000000000" pitchFamily="18" charset="-127"/>
                <a:ea typeface="a고딕16" panose="02020600000000000000" pitchFamily="18" charset="-127"/>
                <a:cs typeface="+mn-cs"/>
              </a:rPr>
              <a:t>이관규</a:t>
            </a:r>
            <a:r>
              <a:rPr lang="en-US" altLang="ko-KR" sz="200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lang="ko-KR" altLang="en-US" sz="200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당시 신문자료</a:t>
            </a:r>
            <a:r>
              <a:rPr lang="en-US" altLang="ko-KR" sz="200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D9F3EF1-86BF-54BC-F2E9-D2F26FD126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151" y="1838294"/>
            <a:ext cx="2553028" cy="36157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319673-AA5D-B0CA-D580-A88CAAFEAF45}"/>
              </a:ext>
            </a:extLst>
          </p:cNvPr>
          <p:cNvSpPr txBox="1"/>
          <p:nvPr/>
        </p:nvSpPr>
        <p:spPr>
          <a:xfrm>
            <a:off x="4193628" y="2740884"/>
            <a:ext cx="72803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1929</a:t>
            </a:r>
            <a:r>
              <a:rPr lang="ko-KR" altLang="en-US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년 여름 한 달 간격으로 </a:t>
            </a:r>
            <a:r>
              <a:rPr lang="en-US" altLang="ko-KR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11</a:t>
            </a:r>
            <a:r>
              <a:rPr lang="ko-KR" altLang="en-US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살과 </a:t>
            </a:r>
            <a:r>
              <a:rPr lang="en-US" altLang="ko-KR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9</a:t>
            </a:r>
            <a:r>
              <a:rPr lang="ko-KR" altLang="en-US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살의 남자 어린이 </a:t>
            </a:r>
            <a:r>
              <a:rPr lang="en-US" altLang="ko-KR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2</a:t>
            </a:r>
            <a:r>
              <a:rPr lang="ko-KR" altLang="en-US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명을 성폭행하고 </a:t>
            </a:r>
            <a:endParaRPr lang="en-US" altLang="ko-KR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  <a:p>
            <a:endParaRPr lang="en-US" altLang="ko-KR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  <a:p>
            <a:r>
              <a:rPr lang="ko-KR" altLang="en-US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목을 졸라 살해한 연쇄 살인마</a:t>
            </a:r>
            <a:r>
              <a:rPr lang="en-US" altLang="ko-KR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. </a:t>
            </a:r>
          </a:p>
          <a:p>
            <a:endParaRPr lang="en-US" altLang="ko-KR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  <a:p>
            <a:r>
              <a:rPr lang="ko-KR" altLang="en-US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전국을 </a:t>
            </a:r>
            <a:r>
              <a:rPr lang="ko-KR" altLang="en-US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도망다니던</a:t>
            </a:r>
            <a:r>
              <a:rPr lang="ko-KR" altLang="en-US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 이관규는 사건발생 </a:t>
            </a:r>
            <a:r>
              <a:rPr lang="en-US" altLang="ko-KR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1</a:t>
            </a:r>
            <a:r>
              <a:rPr lang="ko-KR" altLang="en-US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년 </a:t>
            </a:r>
            <a:r>
              <a:rPr lang="en-US" altLang="ko-KR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6</a:t>
            </a:r>
            <a:r>
              <a:rPr lang="ko-KR" altLang="en-US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개월만에 자신의 집에서 검거되나</a:t>
            </a:r>
            <a:r>
              <a:rPr lang="en-US" altLang="ko-KR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,</a:t>
            </a:r>
          </a:p>
          <a:p>
            <a:endParaRPr lang="en-US" altLang="ko-KR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  <a:p>
            <a:r>
              <a:rPr lang="ko-KR" altLang="en-US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증거불충분으로 무죄판결을 받았고</a:t>
            </a:r>
            <a:r>
              <a:rPr lang="en-US" altLang="ko-KR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그 이후의 자료는 확인이 되지 않고 있다</a:t>
            </a:r>
            <a:r>
              <a:rPr lang="en-US" altLang="ko-KR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.</a:t>
            </a:r>
            <a:endParaRPr lang="ko-KR" altLang="en-US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4BAC26-F814-2BB9-726B-B9E3CF09B892}"/>
              </a:ext>
            </a:extLst>
          </p:cNvPr>
          <p:cNvSpPr txBox="1"/>
          <p:nvPr/>
        </p:nvSpPr>
        <p:spPr>
          <a:xfrm>
            <a:off x="6217681" y="718923"/>
            <a:ext cx="1751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모티브</a:t>
            </a:r>
          </a:p>
        </p:txBody>
      </p:sp>
    </p:spTree>
    <p:extLst>
      <p:ext uri="{BB962C8B-B14F-4D97-AF65-F5344CB8AC3E}">
        <p14:creationId xmlns:p14="http://schemas.microsoft.com/office/powerpoint/2010/main" val="22136105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-30479" y="376146"/>
            <a:ext cx="3427071" cy="100440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558" y="141256"/>
            <a:ext cx="73289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600" dirty="0">
                <a:solidFill>
                  <a:schemeClr val="bg1"/>
                </a:solidFill>
                <a:latin typeface="Chiller" panose="04020404031007020602" pitchFamily="82" charset="0"/>
                <a:ea typeface="a고딕16" panose="02020600000000000000" pitchFamily="18" charset="-127"/>
              </a:rPr>
              <a:t>4</a:t>
            </a:r>
            <a:endParaRPr lang="ko-KR" altLang="en-US" sz="9600" dirty="0">
              <a:solidFill>
                <a:schemeClr val="bg1"/>
              </a:solidFill>
              <a:latin typeface="Chiller" panose="04020404031007020602" pitchFamily="82" charset="0"/>
              <a:ea typeface="a고딕16" panose="02020600000000000000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5151" y="399772"/>
            <a:ext cx="19880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캐릭터소개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151" y="949756"/>
            <a:ext cx="25314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경성뎐</a:t>
            </a:r>
            <a:r>
              <a:rPr lang="en-US" altLang="ko-KR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lang="ko-KR" altLang="en-US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가제</a:t>
            </a:r>
            <a:r>
              <a:rPr lang="en-US" altLang="ko-KR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</a:t>
            </a:r>
            <a:endParaRPr lang="ko-KR" altLang="en-US" sz="1600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196734-9F02-4DF8-95FD-84381235C73B}"/>
              </a:ext>
            </a:extLst>
          </p:cNvPr>
          <p:cNvSpPr txBox="1"/>
          <p:nvPr/>
        </p:nvSpPr>
        <p:spPr>
          <a:xfrm>
            <a:off x="1762215" y="5765523"/>
            <a:ext cx="1751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이영득</a:t>
            </a:r>
            <a:endParaRPr lang="ko-KR" altLang="en-US" sz="2000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pic>
        <p:nvPicPr>
          <p:cNvPr id="10" name="그림 9" descr="의류, 정장, 서있는이(가) 표시된 사진&#10;&#10;자동 생성된 설명">
            <a:extLst>
              <a:ext uri="{FF2B5EF4-FFF2-40B4-BE49-F238E27FC236}">
                <a16:creationId xmlns:a16="http://schemas.microsoft.com/office/drawing/2014/main" id="{8B1924F3-B47F-A3A1-B792-37FECEF70A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479" y="1558157"/>
            <a:ext cx="43815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4815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-30479" y="376146"/>
            <a:ext cx="3427071" cy="100440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558" y="141256"/>
            <a:ext cx="73289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600" dirty="0">
                <a:solidFill>
                  <a:schemeClr val="bg1"/>
                </a:solidFill>
                <a:latin typeface="Chiller" panose="04020404031007020602" pitchFamily="82" charset="0"/>
                <a:ea typeface="a고딕16" panose="02020600000000000000" pitchFamily="18" charset="-127"/>
              </a:rPr>
              <a:t>4</a:t>
            </a:r>
            <a:endParaRPr lang="ko-KR" altLang="en-US" sz="9600" dirty="0">
              <a:solidFill>
                <a:schemeClr val="bg1"/>
              </a:solidFill>
              <a:latin typeface="Chiller" panose="04020404031007020602" pitchFamily="82" charset="0"/>
              <a:ea typeface="a고딕16" panose="02020600000000000000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5151" y="399772"/>
            <a:ext cx="19880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캐릭터소개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151" y="949756"/>
            <a:ext cx="25314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경성뎐</a:t>
            </a:r>
            <a:r>
              <a:rPr lang="en-US" altLang="ko-KR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lang="ko-KR" altLang="en-US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가제</a:t>
            </a:r>
            <a:r>
              <a:rPr lang="en-US" altLang="ko-KR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</a:t>
            </a:r>
            <a:endParaRPr lang="ko-KR" altLang="en-US" sz="1600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F6B828-6B88-23BC-C9B6-47598EC1D54D}"/>
              </a:ext>
            </a:extLst>
          </p:cNvPr>
          <p:cNvSpPr txBox="1"/>
          <p:nvPr/>
        </p:nvSpPr>
        <p:spPr>
          <a:xfrm>
            <a:off x="1762215" y="5765523"/>
            <a:ext cx="1751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이영득</a:t>
            </a:r>
            <a:endParaRPr lang="ko-KR" altLang="en-US" sz="2000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pic>
        <p:nvPicPr>
          <p:cNvPr id="5" name="그림 4" descr="의류, 정장, 서있는이(가) 표시된 사진&#10;&#10;자동 생성된 설명">
            <a:extLst>
              <a:ext uri="{FF2B5EF4-FFF2-40B4-BE49-F238E27FC236}">
                <a16:creationId xmlns:a16="http://schemas.microsoft.com/office/drawing/2014/main" id="{F167DCE0-59DD-B925-0C60-562DA8D3EA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76268"/>
            <a:ext cx="43815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5425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-30479" y="376146"/>
            <a:ext cx="3427071" cy="100440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558" y="141256"/>
            <a:ext cx="73289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600" dirty="0">
                <a:solidFill>
                  <a:schemeClr val="bg1"/>
                </a:solidFill>
                <a:latin typeface="Chiller" panose="04020404031007020602" pitchFamily="82" charset="0"/>
                <a:ea typeface="a고딕16" panose="02020600000000000000" pitchFamily="18" charset="-127"/>
              </a:rPr>
              <a:t>4</a:t>
            </a:r>
            <a:endParaRPr lang="ko-KR" altLang="en-US" sz="9600" dirty="0">
              <a:solidFill>
                <a:schemeClr val="bg1"/>
              </a:solidFill>
              <a:latin typeface="Chiller" panose="04020404031007020602" pitchFamily="82" charset="0"/>
              <a:ea typeface="a고딕16" panose="02020600000000000000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5151" y="399772"/>
            <a:ext cx="19880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캐릭터소개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151" y="949756"/>
            <a:ext cx="25314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경성뎐</a:t>
            </a:r>
            <a:r>
              <a:rPr lang="en-US" altLang="ko-KR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lang="ko-KR" altLang="en-US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가제</a:t>
            </a:r>
            <a:r>
              <a:rPr lang="en-US" altLang="ko-KR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</a:t>
            </a:r>
            <a:endParaRPr lang="ko-KR" altLang="en-US" sz="1600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F6B828-6B88-23BC-C9B6-47598EC1D54D}"/>
              </a:ext>
            </a:extLst>
          </p:cNvPr>
          <p:cNvSpPr txBox="1"/>
          <p:nvPr/>
        </p:nvSpPr>
        <p:spPr>
          <a:xfrm>
            <a:off x="1762215" y="5765523"/>
            <a:ext cx="1751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이경득</a:t>
            </a:r>
            <a:endParaRPr lang="ko-KR" altLang="en-US" sz="2000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pic>
        <p:nvPicPr>
          <p:cNvPr id="10" name="그림 9" descr="텍스트이(가) 표시된 사진&#10;&#10;자동 생성된 설명">
            <a:extLst>
              <a:ext uri="{FF2B5EF4-FFF2-40B4-BE49-F238E27FC236}">
                <a16:creationId xmlns:a16="http://schemas.microsoft.com/office/drawing/2014/main" id="{8B75D110-7019-3D90-AF17-41D0FD3279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126" y="2251041"/>
            <a:ext cx="3951490" cy="29270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1872297-0F8E-8BBF-4AFB-F37F21D1116E}"/>
              </a:ext>
            </a:extLst>
          </p:cNvPr>
          <p:cNvSpPr txBox="1"/>
          <p:nvPr/>
        </p:nvSpPr>
        <p:spPr>
          <a:xfrm>
            <a:off x="4603052" y="2412124"/>
            <a:ext cx="67318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살인을 주모한 백백교의 총 </a:t>
            </a:r>
            <a:r>
              <a:rPr lang="ko-KR" altLang="en-US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참모격인</a:t>
            </a:r>
            <a:r>
              <a:rPr lang="ko-KR" altLang="en-US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 인물</a:t>
            </a:r>
            <a:r>
              <a:rPr lang="en-US" altLang="ko-KR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, 1941</a:t>
            </a:r>
            <a:r>
              <a:rPr lang="ko-KR" altLang="en-US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년 </a:t>
            </a:r>
            <a:r>
              <a:rPr lang="en-US" altLang="ko-KR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1</a:t>
            </a:r>
            <a:r>
              <a:rPr lang="ko-KR" altLang="en-US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월에 마무리된</a:t>
            </a:r>
            <a:endParaRPr lang="en-US" altLang="ko-KR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  <a:p>
            <a:r>
              <a:rPr lang="ko-KR" altLang="en-US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 </a:t>
            </a:r>
            <a:endParaRPr lang="en-US" altLang="ko-KR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  <a:p>
            <a:r>
              <a:rPr lang="ko-KR" altLang="en-US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백백교</a:t>
            </a:r>
            <a:r>
              <a:rPr lang="ko-KR" altLang="en-US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 사건의 선고 공판결과 </a:t>
            </a:r>
            <a:r>
              <a:rPr lang="en-US" altLang="ko-KR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167</a:t>
            </a:r>
            <a:r>
              <a:rPr lang="ko-KR" altLang="en-US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명을 죽인 죄로 </a:t>
            </a:r>
            <a:r>
              <a:rPr lang="ko-KR" altLang="en-US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사형선고되었다</a:t>
            </a:r>
            <a:r>
              <a:rPr lang="en-US" altLang="ko-KR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.</a:t>
            </a:r>
            <a:endParaRPr lang="ko-KR" altLang="en-US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98CDA1-2983-1D66-5B55-88A456EDCF8E}"/>
              </a:ext>
            </a:extLst>
          </p:cNvPr>
          <p:cNvSpPr txBox="1"/>
          <p:nvPr/>
        </p:nvSpPr>
        <p:spPr>
          <a:xfrm>
            <a:off x="6217681" y="718923"/>
            <a:ext cx="1751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모티브</a:t>
            </a:r>
          </a:p>
        </p:txBody>
      </p:sp>
    </p:spTree>
    <p:extLst>
      <p:ext uri="{BB962C8B-B14F-4D97-AF65-F5344CB8AC3E}">
        <p14:creationId xmlns:p14="http://schemas.microsoft.com/office/powerpoint/2010/main" val="225556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-30479" y="376146"/>
            <a:ext cx="3427071" cy="100440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558" y="141256"/>
            <a:ext cx="73289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600" dirty="0">
                <a:solidFill>
                  <a:schemeClr val="bg1"/>
                </a:solidFill>
                <a:latin typeface="Chiller" panose="04020404031007020602" pitchFamily="82" charset="0"/>
                <a:ea typeface="a고딕16" panose="02020600000000000000" pitchFamily="18" charset="-127"/>
              </a:rPr>
              <a:t>4</a:t>
            </a:r>
            <a:endParaRPr lang="ko-KR" altLang="en-US" sz="9600" dirty="0">
              <a:solidFill>
                <a:schemeClr val="bg1"/>
              </a:solidFill>
              <a:latin typeface="Chiller" panose="04020404031007020602" pitchFamily="82" charset="0"/>
              <a:ea typeface="a고딕16" panose="02020600000000000000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5151" y="399772"/>
            <a:ext cx="19880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캐릭터소개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151" y="949756"/>
            <a:ext cx="25314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경성뎐</a:t>
            </a:r>
            <a:r>
              <a:rPr lang="en-US" altLang="ko-KR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lang="ko-KR" altLang="en-US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가제</a:t>
            </a:r>
            <a:r>
              <a:rPr lang="en-US" altLang="ko-KR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</a:t>
            </a:r>
            <a:endParaRPr lang="ko-KR" altLang="en-US" sz="1600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4952AA-835C-3110-894A-B2BBAA7245C3}"/>
              </a:ext>
            </a:extLst>
          </p:cNvPr>
          <p:cNvSpPr txBox="1"/>
          <p:nvPr/>
        </p:nvSpPr>
        <p:spPr>
          <a:xfrm>
            <a:off x="1615320" y="5726752"/>
            <a:ext cx="1751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천룡해</a:t>
            </a:r>
            <a:endParaRPr lang="ko-KR" altLang="en-US" sz="2000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pic>
        <p:nvPicPr>
          <p:cNvPr id="14" name="그림 13" descr="사람이(가) 표시된 사진&#10;&#10;자동 생성된 설명">
            <a:extLst>
              <a:ext uri="{FF2B5EF4-FFF2-40B4-BE49-F238E27FC236}">
                <a16:creationId xmlns:a16="http://schemas.microsoft.com/office/drawing/2014/main" id="{CDCA2958-6282-9D6A-4DBA-FFED3600E67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98"/>
          <a:stretch/>
        </p:blipFill>
        <p:spPr>
          <a:xfrm>
            <a:off x="1255216" y="2743772"/>
            <a:ext cx="1751309" cy="2425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9885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-30479" y="376146"/>
            <a:ext cx="3427071" cy="100440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558" y="141256"/>
            <a:ext cx="73289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600" dirty="0">
                <a:solidFill>
                  <a:schemeClr val="bg1"/>
                </a:solidFill>
                <a:latin typeface="Chiller" panose="04020404031007020602" pitchFamily="82" charset="0"/>
                <a:ea typeface="a고딕16" panose="02020600000000000000" pitchFamily="18" charset="-127"/>
              </a:rPr>
              <a:t>4</a:t>
            </a:r>
            <a:endParaRPr lang="ko-KR" altLang="en-US" sz="9600" dirty="0">
              <a:solidFill>
                <a:schemeClr val="bg1"/>
              </a:solidFill>
              <a:latin typeface="Chiller" panose="04020404031007020602" pitchFamily="82" charset="0"/>
              <a:ea typeface="a고딕16" panose="02020600000000000000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5151" y="399772"/>
            <a:ext cx="19880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캐릭터소개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151" y="949756"/>
            <a:ext cx="25314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경성뎐</a:t>
            </a:r>
            <a:r>
              <a:rPr lang="en-US" altLang="ko-KR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lang="ko-KR" altLang="en-US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가제</a:t>
            </a:r>
            <a:r>
              <a:rPr lang="en-US" altLang="ko-KR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</a:t>
            </a:r>
            <a:endParaRPr lang="ko-KR" altLang="en-US" sz="1600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pic>
        <p:nvPicPr>
          <p:cNvPr id="9" name="그림 8" descr="사람이(가) 표시된 사진&#10;&#10;자동 생성된 설명">
            <a:extLst>
              <a:ext uri="{FF2B5EF4-FFF2-40B4-BE49-F238E27FC236}">
                <a16:creationId xmlns:a16="http://schemas.microsoft.com/office/drawing/2014/main" id="{C333D818-8DF5-B6E6-D7FF-E60B9E2C884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98"/>
          <a:stretch/>
        </p:blipFill>
        <p:spPr>
          <a:xfrm>
            <a:off x="1255216" y="2743772"/>
            <a:ext cx="1751309" cy="24256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C41C155-712F-0191-D8A5-FE5A774C266E}"/>
              </a:ext>
            </a:extLst>
          </p:cNvPr>
          <p:cNvSpPr txBox="1"/>
          <p:nvPr/>
        </p:nvSpPr>
        <p:spPr>
          <a:xfrm>
            <a:off x="1615320" y="5726752"/>
            <a:ext cx="1751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천룡해</a:t>
            </a:r>
            <a:endParaRPr lang="ko-KR" altLang="en-US" sz="2000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894461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-30479" y="376146"/>
            <a:ext cx="3427071" cy="100440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558" y="141256"/>
            <a:ext cx="73289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600" dirty="0">
                <a:solidFill>
                  <a:schemeClr val="bg1"/>
                </a:solidFill>
                <a:latin typeface="Chiller" panose="04020404031007020602" pitchFamily="82" charset="0"/>
                <a:ea typeface="a고딕16" panose="02020600000000000000" pitchFamily="18" charset="-127"/>
              </a:rPr>
              <a:t>4</a:t>
            </a:r>
            <a:endParaRPr lang="ko-KR" altLang="en-US" sz="9600" dirty="0">
              <a:solidFill>
                <a:schemeClr val="bg1"/>
              </a:solidFill>
              <a:latin typeface="Chiller" panose="04020404031007020602" pitchFamily="82" charset="0"/>
              <a:ea typeface="a고딕16" panose="02020600000000000000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5151" y="399772"/>
            <a:ext cx="19880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캐릭터소개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151" y="949756"/>
            <a:ext cx="25314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고딕16" panose="02020600000000000000" pitchFamily="18" charset="-127"/>
                <a:ea typeface="a고딕16" panose="02020600000000000000" pitchFamily="18" charset="-127"/>
                <a:cs typeface="+mn-cs"/>
              </a:rPr>
              <a:t>경성뎐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고딕16" panose="02020600000000000000" pitchFamily="18" charset="-127"/>
                <a:ea typeface="a고딕16" panose="02020600000000000000" pitchFamily="18" charset="-127"/>
                <a:cs typeface="+mn-cs"/>
              </a:rPr>
              <a:t>(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고딕16" panose="02020600000000000000" pitchFamily="18" charset="-127"/>
                <a:ea typeface="a고딕16" panose="02020600000000000000" pitchFamily="18" charset="-127"/>
                <a:cs typeface="+mn-cs"/>
              </a:rPr>
              <a:t>가제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고딕16" panose="02020600000000000000" pitchFamily="18" charset="-127"/>
                <a:ea typeface="a고딕16" panose="02020600000000000000" pitchFamily="18" charset="-127"/>
                <a:cs typeface="+mn-cs"/>
              </a:rPr>
              <a:t>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41C155-712F-0191-D8A5-FE5A774C266E}"/>
              </a:ext>
            </a:extLst>
          </p:cNvPr>
          <p:cNvSpPr txBox="1"/>
          <p:nvPr/>
        </p:nvSpPr>
        <p:spPr>
          <a:xfrm>
            <a:off x="1615320" y="5726752"/>
            <a:ext cx="1751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고딕16" panose="02020600000000000000" pitchFamily="18" charset="-127"/>
                <a:ea typeface="a고딕16" panose="02020600000000000000" pitchFamily="18" charset="-127"/>
                <a:cs typeface="+mn-cs"/>
              </a:rPr>
              <a:t>천용해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  <a:cs typeface="+mn-cs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878CB9F-0995-4F91-D99E-919D47698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599" y="3190360"/>
            <a:ext cx="3019425" cy="17716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6C048A5-ADFE-5337-C960-248E106B4616}"/>
              </a:ext>
            </a:extLst>
          </p:cNvPr>
          <p:cNvSpPr txBox="1"/>
          <p:nvPr/>
        </p:nvSpPr>
        <p:spPr>
          <a:xfrm>
            <a:off x="4256690" y="2144110"/>
            <a:ext cx="636926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백백교의 교주</a:t>
            </a:r>
            <a:r>
              <a:rPr lang="en-US" altLang="ko-KR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. </a:t>
            </a:r>
            <a:r>
              <a:rPr lang="ko-KR" altLang="en-US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학식이 </a:t>
            </a:r>
            <a:r>
              <a:rPr lang="ko-KR" altLang="en-US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없던자로</a:t>
            </a:r>
            <a:r>
              <a:rPr lang="en-US" altLang="ko-KR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스스로를 </a:t>
            </a:r>
            <a:r>
              <a:rPr lang="en-US" altLang="ko-KR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'</a:t>
            </a:r>
            <a:r>
              <a:rPr lang="ko-KR" altLang="en-US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신의 아들</a:t>
            </a:r>
            <a:r>
              <a:rPr lang="en-US" altLang="ko-KR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'</a:t>
            </a:r>
            <a:r>
              <a:rPr lang="ko-KR" altLang="en-US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이라 자칭하며 사기행각을 부렸고 신도들의 딸을 시녀로 바치게 하여 첩으로 거느리다 </a:t>
            </a:r>
            <a:r>
              <a:rPr lang="ko-KR" altLang="en-US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실증나면</a:t>
            </a:r>
            <a:r>
              <a:rPr lang="ko-KR" altLang="en-US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 살해하는 것을 능사로 삼은 인물</a:t>
            </a:r>
            <a:r>
              <a:rPr lang="en-US" altLang="ko-KR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. </a:t>
            </a:r>
            <a:r>
              <a:rPr lang="ko-KR" altLang="en-US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이외에도 배교자</a:t>
            </a:r>
            <a:r>
              <a:rPr lang="en-US" altLang="ko-KR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교단에 불만을 품은 사람들과 그 가족들도 함께 살해했다</a:t>
            </a:r>
            <a:r>
              <a:rPr lang="en-US" altLang="ko-KR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. </a:t>
            </a:r>
            <a:r>
              <a:rPr lang="ko-KR" altLang="en-US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유곤룡의</a:t>
            </a:r>
            <a:r>
              <a:rPr lang="ko-KR" altLang="en-US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 폭로로 경찰이 들이닥쳐 도망쳐 자취를 감쳤으며</a:t>
            </a:r>
            <a:r>
              <a:rPr lang="en-US" altLang="ko-KR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항상 흰 천으로 얼굴을 가리고 그의 첩들도 얼굴을 보지 못하게 하여 가까운 </a:t>
            </a:r>
            <a:r>
              <a:rPr lang="ko-KR" altLang="en-US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측근외에는</a:t>
            </a:r>
            <a:r>
              <a:rPr lang="ko-KR" altLang="en-US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 그의 얼굴이 아는 사람이 없어 수사에 난항을 겪었으나</a:t>
            </a:r>
            <a:r>
              <a:rPr lang="en-US" altLang="ko-KR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몇 달 후 솔밭에서 자살한채로 발견된다</a:t>
            </a:r>
            <a:r>
              <a:rPr lang="en-US" altLang="ko-KR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.</a:t>
            </a:r>
            <a:r>
              <a:rPr lang="ko-KR" altLang="en-US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BB235A-7E66-8931-6AA2-7355E0D14EE0}"/>
              </a:ext>
            </a:extLst>
          </p:cNvPr>
          <p:cNvSpPr txBox="1"/>
          <p:nvPr/>
        </p:nvSpPr>
        <p:spPr>
          <a:xfrm>
            <a:off x="6217681" y="718923"/>
            <a:ext cx="1751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모티브</a:t>
            </a:r>
          </a:p>
        </p:txBody>
      </p:sp>
    </p:spTree>
    <p:extLst>
      <p:ext uri="{BB962C8B-B14F-4D97-AF65-F5344CB8AC3E}">
        <p14:creationId xmlns:p14="http://schemas.microsoft.com/office/powerpoint/2010/main" val="10541975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-30479" y="376146"/>
            <a:ext cx="3427071" cy="100440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558" y="141256"/>
            <a:ext cx="73289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600" dirty="0">
                <a:solidFill>
                  <a:schemeClr val="bg1"/>
                </a:solidFill>
                <a:latin typeface="Chiller" panose="04020404031007020602" pitchFamily="82" charset="0"/>
                <a:ea typeface="a고딕16" panose="02020600000000000000" pitchFamily="18" charset="-127"/>
              </a:rPr>
              <a:t>4</a:t>
            </a:r>
            <a:endParaRPr lang="ko-KR" altLang="en-US" sz="9600" dirty="0">
              <a:solidFill>
                <a:schemeClr val="bg1"/>
              </a:solidFill>
              <a:latin typeface="Chiller" panose="04020404031007020602" pitchFamily="82" charset="0"/>
              <a:ea typeface="a고딕16" panose="02020600000000000000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5151" y="399772"/>
            <a:ext cx="19880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캐릭터소개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151" y="949756"/>
            <a:ext cx="25314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경성뎐</a:t>
            </a:r>
            <a:r>
              <a:rPr lang="en-US" altLang="ko-KR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lang="ko-KR" altLang="en-US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가제</a:t>
            </a:r>
            <a:r>
              <a:rPr lang="en-US" altLang="ko-KR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</a:t>
            </a:r>
            <a:endParaRPr lang="ko-KR" altLang="en-US" sz="1600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196734-9F02-4DF8-95FD-84381235C73B}"/>
              </a:ext>
            </a:extLst>
          </p:cNvPr>
          <p:cNvSpPr txBox="1"/>
          <p:nvPr/>
        </p:nvSpPr>
        <p:spPr>
          <a:xfrm>
            <a:off x="1762215" y="5765523"/>
            <a:ext cx="1751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묵표자</a:t>
            </a:r>
            <a:endParaRPr lang="ko-KR" altLang="en-US" sz="2000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pic>
        <p:nvPicPr>
          <p:cNvPr id="9" name="그림 8" descr="나무, 포유류, 실외, 숲이(가) 표시된 사진&#10;&#10;자동 생성된 설명">
            <a:extLst>
              <a:ext uri="{FF2B5EF4-FFF2-40B4-BE49-F238E27FC236}">
                <a16:creationId xmlns:a16="http://schemas.microsoft.com/office/drawing/2014/main" id="{DD1D0278-5925-DD01-5CCD-E543BE0222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58" y="2544052"/>
            <a:ext cx="3707983" cy="249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8685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-30479" y="376146"/>
            <a:ext cx="3427071" cy="100440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558" y="141256"/>
            <a:ext cx="73289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600" dirty="0">
                <a:solidFill>
                  <a:schemeClr val="bg1"/>
                </a:solidFill>
                <a:latin typeface="Chiller" panose="04020404031007020602" pitchFamily="82" charset="0"/>
                <a:ea typeface="a고딕16" panose="02020600000000000000" pitchFamily="18" charset="-127"/>
              </a:rPr>
              <a:t>4</a:t>
            </a:r>
            <a:endParaRPr lang="ko-KR" altLang="en-US" sz="9600" dirty="0">
              <a:solidFill>
                <a:schemeClr val="bg1"/>
              </a:solidFill>
              <a:latin typeface="Chiller" panose="04020404031007020602" pitchFamily="82" charset="0"/>
              <a:ea typeface="a고딕16" panose="02020600000000000000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5151" y="399772"/>
            <a:ext cx="19880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캐릭터소개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151" y="949756"/>
            <a:ext cx="25314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경성뎐</a:t>
            </a:r>
            <a:r>
              <a:rPr lang="en-US" altLang="ko-KR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lang="ko-KR" altLang="en-US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가제</a:t>
            </a:r>
            <a:r>
              <a:rPr lang="en-US" altLang="ko-KR" sz="16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</a:t>
            </a:r>
            <a:endParaRPr lang="ko-KR" altLang="en-US" sz="1600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196734-9F02-4DF8-95FD-84381235C73B}"/>
              </a:ext>
            </a:extLst>
          </p:cNvPr>
          <p:cNvSpPr txBox="1"/>
          <p:nvPr/>
        </p:nvSpPr>
        <p:spPr>
          <a:xfrm>
            <a:off x="1762215" y="5765523"/>
            <a:ext cx="1751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err="1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그슨대</a:t>
            </a:r>
            <a:endParaRPr lang="ko-KR" altLang="en-US" sz="2000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pic>
        <p:nvPicPr>
          <p:cNvPr id="9" name="그림 8" descr="어두운, 밤하늘이(가) 표시된 사진&#10;&#10;자동 생성된 설명">
            <a:extLst>
              <a:ext uri="{FF2B5EF4-FFF2-40B4-BE49-F238E27FC236}">
                <a16:creationId xmlns:a16="http://schemas.microsoft.com/office/drawing/2014/main" id="{65770CEC-80C2-8CBF-927E-ABAC0AE7B2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36" y="2260900"/>
            <a:ext cx="3893237" cy="2204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2382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-30479" y="376146"/>
            <a:ext cx="3427071" cy="100440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558" y="141256"/>
            <a:ext cx="73289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600" dirty="0">
                <a:solidFill>
                  <a:schemeClr val="bg1"/>
                </a:solidFill>
                <a:latin typeface="Chiller" panose="04020404031007020602" pitchFamily="82" charset="0"/>
                <a:ea typeface="a고딕16" panose="02020600000000000000" pitchFamily="18" charset="-127"/>
              </a:rPr>
              <a:t>4</a:t>
            </a:r>
            <a:endParaRPr lang="ko-KR" altLang="en-US" sz="9600" dirty="0">
              <a:solidFill>
                <a:schemeClr val="bg1"/>
              </a:solidFill>
              <a:latin typeface="Chiller" panose="04020404031007020602" pitchFamily="82" charset="0"/>
              <a:ea typeface="a고딕16" panose="02020600000000000000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5151" y="399772"/>
            <a:ext cx="19880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고딕16" panose="02020600000000000000" pitchFamily="18" charset="-127"/>
                <a:ea typeface="a고딕16" panose="02020600000000000000" pitchFamily="18" charset="-127"/>
                <a:cs typeface="+mn-cs"/>
              </a:rPr>
              <a:t>캐릭터소개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151" y="949756"/>
            <a:ext cx="25314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고딕16" panose="02020600000000000000" pitchFamily="18" charset="-127"/>
                <a:ea typeface="a고딕16" panose="02020600000000000000" pitchFamily="18" charset="-127"/>
                <a:cs typeface="+mn-cs"/>
              </a:rPr>
              <a:t>경성뎐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고딕16" panose="02020600000000000000" pitchFamily="18" charset="-127"/>
                <a:ea typeface="a고딕16" panose="02020600000000000000" pitchFamily="18" charset="-127"/>
                <a:cs typeface="+mn-cs"/>
              </a:rPr>
              <a:t>(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고딕16" panose="02020600000000000000" pitchFamily="18" charset="-127"/>
                <a:ea typeface="a고딕16" panose="02020600000000000000" pitchFamily="18" charset="-127"/>
                <a:cs typeface="+mn-cs"/>
              </a:rPr>
              <a:t>가제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고딕16" panose="02020600000000000000" pitchFamily="18" charset="-127"/>
                <a:ea typeface="a고딕16" panose="02020600000000000000" pitchFamily="18" charset="-127"/>
                <a:cs typeface="+mn-cs"/>
              </a:rPr>
              <a:t>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196734-9F02-4DF8-95FD-84381235C73B}"/>
              </a:ext>
            </a:extLst>
          </p:cNvPr>
          <p:cNvSpPr txBox="1"/>
          <p:nvPr/>
        </p:nvSpPr>
        <p:spPr>
          <a:xfrm>
            <a:off x="94230" y="5920681"/>
            <a:ext cx="63254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고딕16" panose="02020600000000000000" pitchFamily="18" charset="-127"/>
                <a:ea typeface="a고딕16" panose="02020600000000000000" pitchFamily="18" charset="-127"/>
                <a:cs typeface="+mn-cs"/>
              </a:rPr>
              <a:t>네이버 웹툰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고딕16" panose="02020600000000000000" pitchFamily="18" charset="-127"/>
                <a:ea typeface="a고딕16" panose="02020600000000000000" pitchFamily="18" charset="-127"/>
                <a:cs typeface="+mn-cs"/>
              </a:rPr>
              <a:t>&lt;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고딕16" panose="02020600000000000000" pitchFamily="18" charset="-127"/>
                <a:ea typeface="a고딕16" panose="02020600000000000000" pitchFamily="18" charset="-127"/>
                <a:cs typeface="+mn-cs"/>
              </a:rPr>
              <a:t>천년구미호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고딕16" panose="02020600000000000000" pitchFamily="18" charset="-127"/>
                <a:ea typeface="a고딕16" panose="02020600000000000000" pitchFamily="18" charset="-127"/>
                <a:cs typeface="+mn-cs"/>
              </a:rPr>
              <a:t>&gt;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고딕16" panose="02020600000000000000" pitchFamily="18" charset="-127"/>
                <a:ea typeface="a고딕16" panose="02020600000000000000" pitchFamily="18" charset="-127"/>
                <a:cs typeface="+mn-cs"/>
              </a:rPr>
              <a:t>에 등장하는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고딕16" panose="02020600000000000000" pitchFamily="18" charset="-127"/>
                <a:ea typeface="a고딕16" panose="02020600000000000000" pitchFamily="18" charset="-127"/>
                <a:cs typeface="+mn-cs"/>
              </a:rPr>
              <a:t>그슨대의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고딕16" panose="02020600000000000000" pitchFamily="18" charset="-127"/>
                <a:ea typeface="a고딕16" panose="02020600000000000000" pitchFamily="18" charset="-127"/>
                <a:cs typeface="+mn-cs"/>
              </a:rPr>
              <a:t> 모습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CE05402-82BE-B57F-0210-A99B0D0F45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246" y="1534531"/>
            <a:ext cx="3082545" cy="41399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56DE9B-A972-7FAC-ABDB-5D07CADEEA3F}"/>
              </a:ext>
            </a:extLst>
          </p:cNvPr>
          <p:cNvSpPr txBox="1"/>
          <p:nvPr/>
        </p:nvSpPr>
        <p:spPr>
          <a:xfrm>
            <a:off x="5391807" y="1954924"/>
            <a:ext cx="59278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0" i="0" dirty="0" err="1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현평효의</a:t>
            </a:r>
            <a:r>
              <a:rPr lang="ko-KR" altLang="en-US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 </a:t>
            </a:r>
            <a:r>
              <a:rPr lang="en-US" altLang="ko-KR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&lt;</a:t>
            </a:r>
            <a:r>
              <a:rPr lang="ko-KR" altLang="en-US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제주도 방언 연구</a:t>
            </a:r>
            <a:r>
              <a:rPr lang="en-US" altLang="ko-KR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&gt;</a:t>
            </a:r>
            <a:r>
              <a:rPr lang="ko-KR" altLang="en-US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에 따르면 컴컴한 밤 지사에 한없이 큰 형상으로 나타나서 사람을 해친다는 혹독한 </a:t>
            </a:r>
            <a:r>
              <a:rPr lang="ko-KR" altLang="en-US" b="0" i="0" dirty="0" err="1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사귀를</a:t>
            </a:r>
            <a:r>
              <a:rPr lang="ko-KR" altLang="en-US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 뜻하며  처음 나타날 때는 어두운 장소에서 남자아이의 모습으로 사람들을 꼬신다</a:t>
            </a:r>
            <a:r>
              <a:rPr lang="en-US" altLang="ko-KR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. </a:t>
            </a:r>
            <a:r>
              <a:rPr lang="ko-KR" altLang="en-US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희생자들은 어두운 길에 아이가 있는 모습을 보고 도움을 주기 위해서 다가간다</a:t>
            </a:r>
            <a:r>
              <a:rPr lang="en-US" altLang="ko-KR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. </a:t>
            </a:r>
            <a:r>
              <a:rPr lang="ko-KR" altLang="en-US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하지만</a:t>
            </a:r>
            <a:r>
              <a:rPr lang="en-US" altLang="ko-KR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, </a:t>
            </a:r>
            <a:r>
              <a:rPr lang="ko-KR" altLang="en-US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다가가면 순식간에 그림자의 </a:t>
            </a:r>
            <a:r>
              <a:rPr lang="ko-KR" altLang="en-US" b="0" i="0" dirty="0" err="1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모습으로커져서</a:t>
            </a:r>
            <a:r>
              <a:rPr lang="ko-KR" altLang="en-US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 그 사람을 놀라게 만들거나</a:t>
            </a:r>
            <a:r>
              <a:rPr lang="en-US" altLang="ko-KR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, </a:t>
            </a:r>
            <a:r>
              <a:rPr lang="ko-KR" altLang="en-US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그림자로 덮쳐서 죽여버리는 잔인함을 보인다</a:t>
            </a:r>
            <a:r>
              <a:rPr lang="en-US" altLang="ko-KR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.</a:t>
            </a:r>
            <a:r>
              <a:rPr lang="ko-KR" altLang="en-US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이때 </a:t>
            </a:r>
            <a:r>
              <a:rPr lang="ko-KR" altLang="en-US" b="0" i="0" dirty="0" err="1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무서운건</a:t>
            </a:r>
            <a:r>
              <a:rPr lang="ko-KR" altLang="en-US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 그림자 자체가 사람을 아예 삼켜 </a:t>
            </a:r>
            <a:r>
              <a:rPr lang="ko-KR" altLang="en-US" b="0" i="0" dirty="0" err="1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버린다는것이다</a:t>
            </a:r>
            <a:r>
              <a:rPr lang="en-US" altLang="ko-KR" b="0" i="0" dirty="0">
                <a:solidFill>
                  <a:schemeClr val="bg1"/>
                </a:solidFill>
                <a:effectLst/>
                <a:latin typeface="a고딕16" panose="02020600000000000000" pitchFamily="18" charset="-127"/>
                <a:ea typeface="a고딕16" panose="02020600000000000000" pitchFamily="18" charset="-127"/>
              </a:rPr>
              <a:t>. </a:t>
            </a:r>
            <a:endParaRPr lang="ko-KR" altLang="en-US" dirty="0"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9BC62E-D519-7FE8-CB67-0A033A48E0BD}"/>
              </a:ext>
            </a:extLst>
          </p:cNvPr>
          <p:cNvSpPr txBox="1"/>
          <p:nvPr/>
        </p:nvSpPr>
        <p:spPr>
          <a:xfrm>
            <a:off x="6217681" y="718923"/>
            <a:ext cx="1751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모티브</a:t>
            </a:r>
          </a:p>
        </p:txBody>
      </p:sp>
    </p:spTree>
    <p:extLst>
      <p:ext uri="{BB962C8B-B14F-4D97-AF65-F5344CB8AC3E}">
        <p14:creationId xmlns:p14="http://schemas.microsoft.com/office/powerpoint/2010/main" val="25640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3291</TotalTime>
  <Words>818</Words>
  <Application>Microsoft Office PowerPoint</Application>
  <PresentationFormat>와이드스크린</PresentationFormat>
  <Paragraphs>190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6" baseType="lpstr">
      <vt:lpstr>Chiller</vt:lpstr>
      <vt:lpstr>배달의민족 한나는 열한살 OTF</vt:lpstr>
      <vt:lpstr>a고딕16</vt:lpstr>
      <vt:lpstr>나눔스퀘어라운드 Regular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징징이</dc:creator>
  <cp:lastModifiedBy>Yongwon Yu</cp:lastModifiedBy>
  <cp:revision>104</cp:revision>
  <dcterms:created xsi:type="dcterms:W3CDTF">2016-10-17T04:03:17Z</dcterms:created>
  <dcterms:modified xsi:type="dcterms:W3CDTF">2026-04-02T13:21:06Z</dcterms:modified>
</cp:coreProperties>
</file>